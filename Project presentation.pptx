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9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5132"/>
            <a:ext cx="8229600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BLOCKCHAIN INTEGRATED SECURITY FRAMEWORK FOR NETWORK TRAFFIC CLASSIFICATION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457200" y="2428122"/>
            <a:ext cx="822960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Advanced Deep Learning Based Intrusion Detection System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9799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Zulqarnain Ali, Amanullah, Hanzla Ahmad Khan, Yousuf Kaleem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3494326"/>
            <a:ext cx="8229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Department of Data Science Computing Faculty
Islamia University of Bahawalpur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642295" y="4501595"/>
            <a:ext cx="3859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8th Semester - Information Security | Instructor: Dr. Faheem Bajwa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642295" y="4744482"/>
            <a:ext cx="3859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6688" y="285750"/>
            <a:ext cx="92868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OVERVIEW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132284"/>
            <a:ext cx="1516261" cy="22324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OBJECTIVES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5539"/>
            <a:ext cx="100013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238" y="1426964"/>
            <a:ext cx="36004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Develop a practical IDS integrating Deep Learning with Blockchain security.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38412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7238" y="1909837"/>
            <a:ext cx="36004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Achieve high classification accuracy with explainable forensic results.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571500" y="2535585"/>
            <a:ext cx="1653778" cy="22324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TECHNOLOGIES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58839"/>
            <a:ext cx="125016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2241" y="2830264"/>
            <a:ext cx="20395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Bi-LSTM:</a:t>
            </a:r>
            <a:r>
              <a:rPr lang="en-US" sz="9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Temporal traffic analysis.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35995"/>
            <a:ext cx="125016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82241" y="3107420"/>
            <a:ext cx="232350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SHA-256:</a:t>
            </a:r>
            <a:r>
              <a:rPr lang="en-US" sz="9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Immutable blockchain logging.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13150"/>
            <a:ext cx="125016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82241" y="3384575"/>
            <a:ext cx="226635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TensorFlow 2.x:</a:t>
            </a:r>
            <a:r>
              <a:rPr lang="en-US" sz="9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Model implementation.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4786313" y="1132284"/>
            <a:ext cx="1589484" cy="22324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DATASET: NSL-KDD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4786313" y="1426964"/>
            <a:ext cx="73580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125K+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4786313" y="1741289"/>
            <a:ext cx="73580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Train Samples</a:t>
            </a:r>
            <a:endParaRPr lang="en-US" sz="850" dirty="0"/>
          </a:p>
        </p:txBody>
      </p:sp>
      <p:sp>
        <p:nvSpPr>
          <p:cNvPr id="20" name="Text 12"/>
          <p:cNvSpPr/>
          <p:nvPr/>
        </p:nvSpPr>
        <p:spPr>
          <a:xfrm>
            <a:off x="5807869" y="1426964"/>
            <a:ext cx="43934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41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5807869" y="1741289"/>
            <a:ext cx="4393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Features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6532959" y="1426964"/>
            <a:ext cx="65008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23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532959" y="1741289"/>
            <a:ext cx="6500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Attack Types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4786313" y="2107406"/>
            <a:ext cx="2212777" cy="22324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PERFORMANCE SNAPSHOT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473523"/>
            <a:ext cx="3786188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8809" y="285750"/>
            <a:ext cx="109656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PROBLEM STATEMENT &amp; MOTIVATION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132284"/>
            <a:ext cx="342185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1500" y="1769864"/>
            <a:ext cx="357188" cy="357188"/>
          </a:xfrm>
          <a:prstGeom prst="rect">
            <a:avLst/>
          </a:prstGeom>
          <a:solidFill>
            <a:srgbClr val="991B1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877020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769864"/>
            <a:ext cx="2921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Evolving Attack Patterns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71563" y="1962745"/>
            <a:ext cx="29217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Traditional IDS fail to detect novel, sophisticated zero-day threats.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1500" y="2568513"/>
            <a:ext cx="357188" cy="357188"/>
          </a:xfrm>
          <a:prstGeom prst="rect">
            <a:avLst/>
          </a:prstGeom>
          <a:solidFill>
            <a:srgbClr val="991B1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97" y="2675669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563" y="2568513"/>
            <a:ext cx="2921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Alert Fatigue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71563" y="2761394"/>
            <a:ext cx="29217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 false positive rates desensitize security analysts to real threats.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1500" y="3367162"/>
            <a:ext cx="357188" cy="357188"/>
          </a:xfrm>
          <a:prstGeom prst="rect">
            <a:avLst/>
          </a:prstGeom>
          <a:solidFill>
            <a:srgbClr val="991B1B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474318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1563" y="3367162"/>
            <a:ext cx="2921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Auditability Gaps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71563" y="3560043"/>
            <a:ext cx="29217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Lack of secure, immutable audit trails for forensic investigations.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143500" y="1132284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143500" y="1769864"/>
            <a:ext cx="357188" cy="357188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0656" y="1877020"/>
            <a:ext cx="142875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43563" y="1769864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Bidirectional LSTM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643563" y="1962745"/>
            <a:ext cx="2928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Superior temporal analysis for deep contextual traffic understanding.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143500" y="2568513"/>
            <a:ext cx="357188" cy="357188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797" y="2675669"/>
            <a:ext cx="178594" cy="14287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43563" y="2568513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Blockchain Integration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5643563" y="2761394"/>
            <a:ext cx="2928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SHA-256 hashing for verifiable and tamper-proof security logging.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5143500" y="3367162"/>
            <a:ext cx="357188" cy="357188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797" y="3474318"/>
            <a:ext cx="178594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43563" y="3367162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Class Weighting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5643563" y="3560043"/>
            <a:ext cx="2928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Effective handling of imbalanced datasets for robust detection.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0" y="4207669"/>
            <a:ext cx="9144000" cy="935831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052" y="4493419"/>
            <a:ext cx="214313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1500" y="4736306"/>
            <a:ext cx="10394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NETWORK TRAFFIC</a:t>
            </a:r>
            <a:endParaRPr lang="en-US" sz="7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4249" y="4610398"/>
            <a:ext cx="89297" cy="142875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9615" y="4493419"/>
            <a:ext cx="171450" cy="17145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2806880" y="4736306"/>
            <a:ext cx="10769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BI-LSTM DETECTION</a:t>
            </a:r>
            <a:endParaRPr lang="en-US" sz="7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7134" y="4610398"/>
            <a:ext cx="89297" cy="142875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2873" y="4493419"/>
            <a:ext cx="171450" cy="17145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079764" y="4736306"/>
            <a:ext cx="13376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ATTACK CLASSIFICATION</a:t>
            </a:r>
            <a:endParaRPr lang="en-US" sz="7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0765" y="4610398"/>
            <a:ext cx="89297" cy="142875"/>
          </a:xfrm>
          <a:prstGeom prst="rect">
            <a:avLst/>
          </a:prstGeom>
        </p:spPr>
      </p:pic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7911" y="4493419"/>
            <a:ext cx="150019" cy="17145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7613396" y="4736306"/>
            <a:ext cx="9590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BLOCKCHAIN LOG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595" y="285750"/>
            <a:ext cx="109478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132284"/>
            <a:ext cx="2476481" cy="22860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682353"/>
            <a:ext cx="8768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Total Parameters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83638" y="1682353"/>
            <a:ext cx="46434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328,705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984177"/>
            <a:ext cx="83046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Bi-LSTM Layers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978330" y="1984177"/>
            <a:ext cx="696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286000"/>
            <a:ext cx="68401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Dropout Rate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69388" y="2286000"/>
            <a:ext cx="17859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587823"/>
            <a:ext cx="74652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Regularization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040713" y="2587823"/>
            <a:ext cx="10072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L2 + Batch Norm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3139678"/>
            <a:ext cx="24764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PIPELINE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71500" y="3332559"/>
            <a:ext cx="171450" cy="17145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3325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14388" y="3346847"/>
            <a:ext cx="1444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StandardScaler Normalization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71500" y="3575447"/>
            <a:ext cx="171450" cy="17145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357544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814388" y="3589734"/>
            <a:ext cx="13805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Label Encoding (Categorical)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1500" y="3818334"/>
            <a:ext cx="171450" cy="17145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8183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814388" y="3832622"/>
            <a:ext cx="1348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 Weighting (1.07 Attack)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333731" y="1132284"/>
            <a:ext cx="2476509" cy="22860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TRAINING CONFIGURATION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33731" y="1682353"/>
            <a:ext cx="50720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Hardware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85113" y="1682353"/>
            <a:ext cx="102512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GPU Accelerated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333731" y="1984177"/>
            <a:ext cx="37326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Epochs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688797" y="1984177"/>
            <a:ext cx="12144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19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333731" y="2286000"/>
            <a:ext cx="73044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Training Time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378044" y="2286000"/>
            <a:ext cx="43219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200.13s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33731" y="2587823"/>
            <a:ext cx="7179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Learning Rate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99488" y="2587823"/>
            <a:ext cx="31075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0.001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3731" y="2889647"/>
            <a:ext cx="67687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Optimization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917272" y="2889647"/>
            <a:ext cx="8929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Early Stopping</a:t>
            </a:r>
            <a:endParaRPr lang="en-US" sz="8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60" y="3441502"/>
            <a:ext cx="428625" cy="428625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095991" y="1203722"/>
            <a:ext cx="2476481" cy="2193131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7" name="Text 33"/>
          <p:cNvSpPr/>
          <p:nvPr/>
        </p:nvSpPr>
        <p:spPr>
          <a:xfrm>
            <a:off x="6274584" y="1382316"/>
            <a:ext cx="2119294" cy="22860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BLOCKCHAIN INTEGRATION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274584" y="1825228"/>
            <a:ext cx="5197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Algorithm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7886672" y="1825228"/>
            <a:ext cx="50720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SHA-256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274584" y="2127052"/>
            <a:ext cx="76616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Blocks Created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199211" y="2127052"/>
            <a:ext cx="19466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301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274584" y="2428875"/>
            <a:ext cx="71616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Chain Validity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088483" y="2428875"/>
            <a:ext cx="3053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100%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274584" y="2730698"/>
            <a:ext cx="4125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Logging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7727724" y="2730698"/>
            <a:ext cx="66615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AFAF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Immutable</a:t>
            </a:r>
            <a:endParaRPr lang="en-US" sz="800" dirty="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763" y="3103959"/>
            <a:ext cx="142875" cy="114300"/>
          </a:xfrm>
          <a:prstGeom prst="rect">
            <a:avLst/>
          </a:prstGeom>
        </p:spPr>
      </p:pic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794" y="3103959"/>
            <a:ext cx="142875" cy="114300"/>
          </a:xfrm>
          <a:prstGeom prst="rect">
            <a:avLst/>
          </a:prstGeom>
        </p:spPr>
      </p:pic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825" y="3103959"/>
            <a:ext cx="142875" cy="11430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095991" y="3611166"/>
            <a:ext cx="2476481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Each detected intrusion triggers a cryptographic hash, ensuring that security logs remain tamper-proof for forensic auditing.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727" y="285750"/>
            <a:ext cx="118764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RESULTS &amp; PERFORMANCE ANALYSIS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132284"/>
            <a:ext cx="2321719" cy="20716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QUANTITATIVE METRICS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553766"/>
            <a:ext cx="1472199" cy="29825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ACCURACY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043699" y="1553766"/>
            <a:ext cx="849520" cy="298252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79.68%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852017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PRECISION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043699" y="1852017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97.80%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153841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RECALL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043699" y="2153841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65.78%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455664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F1-SCORE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043699" y="2455664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78.66%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2757488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AUC-ROC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043699" y="2757488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94.87%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1500" y="3059311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AUC-PR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043699" y="3059311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96.16%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1500" y="3361134"/>
            <a:ext cx="1472199" cy="30182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MCC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043699" y="3361134"/>
            <a:ext cx="849520" cy="301823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0.6502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8969" y="1132284"/>
            <a:ext cx="2786063" cy="20716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FEATURE IMPORTANCE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969" y="1553766"/>
            <a:ext cx="2786063" cy="21431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178969" y="3911203"/>
            <a:ext cx="2786063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Analysis reveals that </a:t>
            </a:r>
            <a:r>
              <a:rPr lang="en-US" sz="7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src_bytes</a:t>
            </a:r>
            <a:r>
              <a:rPr lang="en-US" sz="7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and </a:t>
            </a:r>
            <a:r>
              <a:rPr lang="en-US" sz="7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dst_bytes</a:t>
            </a:r>
            <a:r>
              <a:rPr lang="en-US" sz="7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are the primary indicators for traffic classification, representing nearly 30% of model influence.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250781" y="1132284"/>
            <a:ext cx="2321719" cy="20716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BLOCKCHAIN ALERTS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93656" y="1693069"/>
            <a:ext cx="489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CRITICAL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8329613" y="1639491"/>
            <a:ext cx="2428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17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285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93656" y="2243138"/>
            <a:ext cx="2714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8501063" y="2189559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17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393656" y="2793206"/>
            <a:ext cx="4518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8488561" y="2739628"/>
            <a:ext cx="839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17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393656" y="3343275"/>
            <a:ext cx="2589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LOW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8483203" y="3289697"/>
            <a:ext cx="892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17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12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81" y="3896916"/>
            <a:ext cx="2321719" cy="1214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8094" y="285750"/>
            <a:ext cx="110728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FINDINGS &amp; INSIGHTS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132284"/>
            <a:ext cx="3857625" cy="1732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TECHNICAL ACHIEVEMENTS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1252"/>
            <a:ext cx="100013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50" y="1412677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Contextual Understanding: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Bidirectional processing enhances temporal dependency recognition in traffic.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59831"/>
            <a:ext cx="125016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7953" y="1831256"/>
            <a:ext cx="3661172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Tamper-Proof Auditing: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Blockchain provides an immutable, verifiable trail for all security incidents.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78410"/>
            <a:ext cx="125016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953" y="2249835"/>
            <a:ext cx="3661172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Robustness: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Effective class weighting ensures reliability across diverse attack scenarios.</a:t>
            </a:r>
            <a:endParaRPr lang="en-US" sz="850" dirty="0"/>
          </a:p>
        </p:txBody>
      </p:sp>
      <p:sp>
        <p:nvSpPr>
          <p:cNvPr id="12" name="Text 6"/>
          <p:cNvSpPr/>
          <p:nvPr/>
        </p:nvSpPr>
        <p:spPr>
          <a:xfrm>
            <a:off x="4714875" y="1132284"/>
            <a:ext cx="3857625" cy="1732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PERFORMANCE INSIGHTS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441252"/>
            <a:ext cx="100013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86325" y="1412677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Precision (97.8%):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Crucial for reducing alert fatigue and improving operational efficiency.</a:t>
            </a:r>
            <a:endParaRPr lang="en-US" sz="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859831"/>
            <a:ext cx="100013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886325" y="1831256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Discrimination: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Excellent AUC scores (94.87%) confirm strong ability to distinguish anomalies.</a:t>
            </a:r>
            <a:endParaRPr lang="en-US" sz="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278410"/>
            <a:ext cx="75009" cy="10001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61322" y="2249835"/>
            <a:ext cx="371117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Viability: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Fast training times demonstrate practical deployability in real-world environments.</a:t>
            </a:r>
            <a:endParaRPr lang="en-US" sz="850" dirty="0"/>
          </a:p>
        </p:txBody>
      </p:sp>
      <p:sp>
        <p:nvSpPr>
          <p:cNvPr id="19" name="Text 10"/>
          <p:cNvSpPr/>
          <p:nvPr/>
        </p:nvSpPr>
        <p:spPr>
          <a:xfrm>
            <a:off x="571500" y="3280767"/>
            <a:ext cx="3857625" cy="1732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ATTACK DETECTION ANALYSIS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89734"/>
            <a:ext cx="112514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5452" y="3561159"/>
            <a:ext cx="3673673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Prevalent Attacks: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Neptune attacks identified as most common (32.72%) in the dataset.</a:t>
            </a:r>
            <a:endParaRPr lang="en-US" sz="8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008313"/>
            <a:ext cx="100013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42950" y="3979738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Predictive Features: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Network-specific features proved most predictive for intrusion detection.</a:t>
            </a:r>
            <a:endParaRPr lang="en-US" sz="8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426893"/>
            <a:ext cx="100013" cy="10001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42950" y="4398318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Temporal Significance: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Temporal patterns are critical for identifying sophisticated attacks.</a:t>
            </a:r>
            <a:endParaRPr lang="en-US" sz="850" dirty="0"/>
          </a:p>
        </p:txBody>
      </p:sp>
      <p:sp>
        <p:nvSpPr>
          <p:cNvPr id="26" name="Text 14"/>
          <p:cNvSpPr/>
          <p:nvPr/>
        </p:nvSpPr>
        <p:spPr>
          <a:xfrm>
            <a:off x="4714875" y="3280767"/>
            <a:ext cx="3857625" cy="1732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SECURITY BENEFITS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4875" y="3589734"/>
            <a:ext cx="100013" cy="100013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886325" y="3561159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Immutable Logs: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Ensures integrity and trustworthiness of security event records.</a:t>
            </a:r>
            <a:endParaRPr lang="en-US" sz="8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4875" y="4008313"/>
            <a:ext cx="100013" cy="10001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4886325" y="3979738"/>
            <a:ext cx="368617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Compliance: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Supports adherence to data integrity and auditability requirements.</a:t>
            </a:r>
            <a:endParaRPr lang="en-US" sz="8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4875" y="4426893"/>
            <a:ext cx="87511" cy="100013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4873823" y="4398318"/>
            <a:ext cx="369867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Forensic Support:</a:t>
            </a: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Facilitates detailed post-incident analysis and investigations.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70589" y="285750"/>
            <a:ext cx="114478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CONTRIBUTIONS &amp; IMPACT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605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1275159"/>
            <a:ext cx="9340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1655564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Integrated System: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Functional Bi-LSTM model with blockchain logging.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71500" y="2084189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Benchmarking: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Robust evaluation framework with detailed metrics.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2512814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 Analysis: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Ranked importance of 41 network features.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71500" y="2941439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Security Framework: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Novel tamper-proof alert logging system.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71500" y="165556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71500" y="208418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1500" y="251281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294143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1276052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5200" y="1275159"/>
            <a:ext cx="8840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ACADEMIC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333731" y="1655564"/>
            <a:ext cx="2476509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IDS Advancement: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Contributes to LSTM-based intrusion detection research.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333731" y="2084189"/>
            <a:ext cx="2476509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Blockchain Paradigm: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Demonstrates benefits of hybrid security architectures.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333731" y="2512814"/>
            <a:ext cx="2476509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Reproducibility: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Provides a baseline for future hybrid IDS studies.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333731" y="2941439"/>
            <a:ext cx="2476509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Real-world Solutions: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Addresses deployment challenges in network security.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333731" y="165556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333731" y="208418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333731" y="251281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333731" y="294143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1276052"/>
            <a:ext cx="171450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74597" y="1275159"/>
            <a:ext cx="9269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095991" y="1655564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Enterprise Security: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Proactive threat detection for corporate networks.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095991" y="2084189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Financial Fraud: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Detection of fraudulent transactions in banking.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095991" y="2512814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Infrastructure: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Protection of vital systems against cyber threats.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095991" y="2941439"/>
            <a:ext cx="2476481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Compliance:</a:t>
            </a:r>
            <a:r>
              <a:rPr lang="en-US" sz="85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Aids in meeting data integrity and audit requirements.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0" y="4557713"/>
            <a:ext cx="9144000" cy="5857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2" name="Text 26"/>
          <p:cNvSpPr/>
          <p:nvPr/>
        </p:nvSpPr>
        <p:spPr>
          <a:xfrm>
            <a:off x="6095991" y="165556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095991" y="208418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095991" y="2512814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095991" y="2941439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991B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•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571500" y="4772025"/>
            <a:ext cx="22074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D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FUTURE RESEARCH DIRECTIONS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486" y="4800600"/>
            <a:ext cx="75009" cy="10001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605933" y="4783634"/>
            <a:ext cx="106441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AFA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Optimization</a:t>
            </a:r>
            <a:endParaRPr lang="en-US" sz="7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102" y="4800600"/>
            <a:ext cx="100013" cy="10001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27552" y="4783634"/>
            <a:ext cx="108227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AFA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Multi-dataset Validation</a:t>
            </a:r>
            <a:endParaRPr lang="en-US" sz="7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5580" y="4800600"/>
            <a:ext cx="125016" cy="10001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692033" y="4783634"/>
            <a:ext cx="88046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AFA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Federated Learning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4516" y="285750"/>
            <a:ext cx="1160859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D4D4D8">
                    <a:alpha val="5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1" dirty="0">
                <a:solidFill>
                  <a:srgbClr val="17171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 &amp; FUTURE WORK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275159"/>
            <a:ext cx="2476481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SUMMARY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1289"/>
            <a:ext cx="100013" cy="3357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238" y="1712714"/>
            <a:ext cx="2290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Successfully engineered a novel IDS with 79.68% accuracy and 97.8% precision.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4214"/>
            <a:ext cx="100013" cy="5179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7238" y="2255639"/>
            <a:ext cx="229074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Integrated SHA-256 blockchain for immutable, tamper-proof security logging.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09305"/>
            <a:ext cx="100013" cy="5179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238" y="2980730"/>
            <a:ext cx="229074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Demonstrated practical deployment readiness for enterprise network environments.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3333731" y="1275159"/>
            <a:ext cx="2476509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LESSONS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1741289"/>
            <a:ext cx="75009" cy="3357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494466" y="1712714"/>
            <a:ext cx="23157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Bi-directional processing is critical for capturing temporal attack context.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2284214"/>
            <a:ext cx="75009" cy="3357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94466" y="2255639"/>
            <a:ext cx="23157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Blockchain adds minimal overhead while significantly enhancing auditability.</a:t>
            </a:r>
            <a:endParaRPr lang="en-US" sz="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2827139"/>
            <a:ext cx="75009" cy="3357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494466" y="2798564"/>
            <a:ext cx="23157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 weighting is essential for robust performance on imbalanced datasets.</a:t>
            </a:r>
            <a:endParaRPr lang="en-US" sz="900" dirty="0"/>
          </a:p>
        </p:txBody>
      </p:sp>
      <p:sp>
        <p:nvSpPr>
          <p:cNvPr id="19" name="Text 10"/>
          <p:cNvSpPr/>
          <p:nvPr/>
        </p:nvSpPr>
        <p:spPr>
          <a:xfrm>
            <a:off x="6095991" y="1275159"/>
            <a:ext cx="2476481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FUTURE DIRECTIONS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1" y="1741289"/>
            <a:ext cx="87511" cy="3357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269227" y="1712714"/>
            <a:ext cx="230324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stream processing for instantaneous threat detection.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1" y="2284214"/>
            <a:ext cx="87511" cy="3357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269227" y="2255639"/>
            <a:ext cx="230324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Investigation of Transformer-based architectures for improved modeling.</a:t>
            </a:r>
            <a:endParaRPr lang="en-US" sz="9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1" y="2827139"/>
            <a:ext cx="87511" cy="3357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269227" y="2798564"/>
            <a:ext cx="230324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Federated Learning for privacy-preserving collaborative intelligence.</a:t>
            </a:r>
            <a:endParaRPr lang="en-US" sz="900" dirty="0"/>
          </a:p>
        </p:txBody>
      </p:sp>
      <p:sp>
        <p:nvSpPr>
          <p:cNvPr id="26" name="Shape 14"/>
          <p:cNvSpPr/>
          <p:nvPr/>
        </p:nvSpPr>
        <p:spPr>
          <a:xfrm>
            <a:off x="0" y="4154091"/>
            <a:ext cx="9144000" cy="98940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7" name="Text 15"/>
          <p:cNvSpPr/>
          <p:nvPr/>
        </p:nvSpPr>
        <p:spPr>
          <a:xfrm>
            <a:off x="571500" y="4488061"/>
            <a:ext cx="5054203" cy="32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991B1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ACKNOWLEDGMENTS</a:t>
            </a:r>
            <a:r>
              <a:rPr lang="en-US" sz="850" dirty="0">
                <a:solidFill>
                  <a:srgbClr val="FAFA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Special thanks to Dr. Faheem Bajwa for guidance and mentorship throughout this research project.</a:t>
            </a:r>
            <a:endParaRPr lang="en-US" sz="850" dirty="0"/>
          </a:p>
        </p:txBody>
      </p:sp>
      <p:sp>
        <p:nvSpPr>
          <p:cNvPr id="28" name="Text 16"/>
          <p:cNvSpPr/>
          <p:nvPr/>
        </p:nvSpPr>
        <p:spPr>
          <a:xfrm>
            <a:off x="6657975" y="4439841"/>
            <a:ext cx="19145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D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ISLAMIA UNIVERSITY
OF BAHAWALPUR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On-screen Show (16:9)</PresentationFormat>
  <Paragraphs>185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Montserrat ExtraBold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OP</cp:lastModifiedBy>
  <cp:revision>1</cp:revision>
  <dcterms:created xsi:type="dcterms:W3CDTF">2026-05-10T20:03:59Z</dcterms:created>
  <dcterms:modified xsi:type="dcterms:W3CDTF">2026-05-30T01:21:10Z</dcterms:modified>
</cp:coreProperties>
</file>