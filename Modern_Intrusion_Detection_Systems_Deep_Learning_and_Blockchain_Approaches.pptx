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8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7975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2.jpe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jpe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2.jpe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jpe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2.jpe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2.jpe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7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248566"/>
            <a:ext cx="8001000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Modern Intrusion Detection Systems: Deep Learning and Blockchain Approaches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71500" y="2900167"/>
            <a:ext cx="8001000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FF6B6B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Enhancing Cybersecurity with AI and Distributed Ledger Technology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571500" y="3453808"/>
            <a:ext cx="8001000" cy="323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Presented by: Zulqarnain Ali, Amanullah,  </a:t>
            </a:r>
            <a:r>
              <a:rPr lang="en-US" sz="1050" dirty="0" err="1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Hanzla</a:t>
            </a:r>
            <a:r>
              <a:rPr lang="en-US" sz="10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Ahmad Khan, Yousuf Kaleem</a:t>
            </a:r>
          </a:p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3719912"/>
            <a:ext cx="80010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May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Introduction to Cybersecurity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948668"/>
            <a:ext cx="8572500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6B6B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The Digital Battlefield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28625" y="1482663"/>
            <a:ext cx="4036219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6B6B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Key Points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966652"/>
            <a:ext cx="142875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7225" y="1945221"/>
            <a:ext cx="3807619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Escalating Cyber Threats:</a:t>
            </a:r>
            <a:r>
              <a:rPr lang="en-US" sz="9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digital landscape is under constant assault, with cyberattacks increasing in frequency and sophistication.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428625" y="2752465"/>
            <a:ext cx="4036219" cy="520043"/>
          </a:xfrm>
          <a:prstGeom prst="rect">
            <a:avLst/>
          </a:prstGeom>
          <a:solidFill>
            <a:srgbClr val="2A2A4A"/>
          </a:solidFill>
          <a:ln/>
        </p:spPr>
      </p:sp>
      <p:sp>
        <p:nvSpPr>
          <p:cNvPr id="9" name="Shape 5"/>
          <p:cNvSpPr/>
          <p:nvPr/>
        </p:nvSpPr>
        <p:spPr>
          <a:xfrm>
            <a:off x="428625" y="2752465"/>
            <a:ext cx="35719" cy="520043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0" name="Text 6"/>
          <p:cNvSpPr/>
          <p:nvPr/>
        </p:nvSpPr>
        <p:spPr>
          <a:xfrm>
            <a:off x="528638" y="2852477"/>
            <a:ext cx="38361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E0BBE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Fact:</a:t>
            </a:r>
            <a:r>
              <a:rPr lang="en-US" sz="850" dirty="0">
                <a:solidFill>
                  <a:srgbClr val="E0BBE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average cost of a data breach in 2023 was </a:t>
            </a:r>
            <a:r>
              <a:rPr lang="en-US" sz="800" b="1" dirty="0">
                <a:solidFill>
                  <a:srgbClr val="E0BBE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$4.45 million</a:t>
            </a:r>
            <a:r>
              <a:rPr lang="en-US" sz="850" dirty="0">
                <a:solidFill>
                  <a:srgbClr val="E0BBE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globally [1].</a:t>
            </a:r>
            <a:endParaRPr lang="en-US" sz="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3436813"/>
            <a:ext cx="142875" cy="142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7225" y="3415382"/>
            <a:ext cx="380761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Paramount Importance of Network Security:</a:t>
            </a:r>
            <a:r>
              <a:rPr lang="en-US" sz="9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Protecting digital assets, privacy, and critical infrastructure is non-negotiable.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3965451"/>
            <a:ext cx="142875" cy="142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57225" y="3944020"/>
            <a:ext cx="380761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Critical Need for Attack Detection:</a:t>
            </a:r>
            <a:r>
              <a:rPr lang="en-US" sz="9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Proactive and reactive systems are essential to identify and mitigate threats.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4679156" y="1482663"/>
            <a:ext cx="4036219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6B6B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Examples of Cyberattacks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4679156" y="1945221"/>
            <a:ext cx="4036219" cy="192881"/>
          </a:xfrm>
          <a:prstGeom prst="rect">
            <a:avLst/>
          </a:prstGeom>
          <a:noFill/>
          <a:ln/>
        </p:spPr>
        <p:txBody>
          <a:bodyPr wrap="none" lIns="187071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Malware:</a:t>
            </a:r>
            <a:r>
              <a:rPr lang="en-US" sz="9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Ransomware (e.g., WannaCry), Trojans, Viruses.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4679156" y="2195252"/>
            <a:ext cx="4036219" cy="385763"/>
          </a:xfrm>
          <a:prstGeom prst="rect">
            <a:avLst/>
          </a:prstGeom>
          <a:noFill/>
          <a:ln/>
        </p:spPr>
        <p:txBody>
          <a:bodyPr wrap="square" lIns="187071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DDoS (Distributed Denial of Service):</a:t>
            </a:r>
            <a:r>
              <a:rPr lang="en-US" sz="9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Overwhelming systems to disrupt services (e.g., GitHub DDoS attack).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4679156" y="2638165"/>
            <a:ext cx="4036219" cy="385763"/>
          </a:xfrm>
          <a:prstGeom prst="rect">
            <a:avLst/>
          </a:prstGeom>
          <a:noFill/>
          <a:ln/>
        </p:spPr>
        <p:txBody>
          <a:bodyPr wrap="square" lIns="187071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Phishing:</a:t>
            </a:r>
            <a:r>
              <a:rPr lang="en-US" sz="9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Social engineering to steal credentials (e.g., targeted email scams).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4679156" y="3081077"/>
            <a:ext cx="4036219" cy="385763"/>
          </a:xfrm>
          <a:prstGeom prst="rect">
            <a:avLst/>
          </a:prstGeom>
          <a:noFill/>
          <a:ln/>
        </p:spPr>
        <p:txBody>
          <a:bodyPr wrap="square" lIns="187071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Network Intrusion:</a:t>
            </a:r>
            <a:r>
              <a:rPr lang="en-US" sz="9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Unauthorized access to systems (e.g., advanced persistent threats).</a:t>
            </a:r>
            <a:endParaRPr lang="en-US" sz="9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9156" y="1973796"/>
            <a:ext cx="87511" cy="150019"/>
          </a:xfrm>
          <a:prstGeom prst="rect">
            <a:avLst/>
          </a:prstGeom>
        </p:spPr>
      </p:pic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9156" y="2223827"/>
            <a:ext cx="87511" cy="150019"/>
          </a:xfrm>
          <a:prstGeom prst="rect">
            <a:avLst/>
          </a:prstGeom>
        </p:spPr>
      </p:pic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9156" y="2666740"/>
            <a:ext cx="87511" cy="150019"/>
          </a:xfrm>
          <a:prstGeom prst="rect">
            <a:avLst/>
          </a:prstGeom>
        </p:spPr>
      </p:pic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9156" y="3109652"/>
            <a:ext cx="87511" cy="150019"/>
          </a:xfrm>
          <a:prstGeom prst="rect">
            <a:avLst/>
          </a:prstGeom>
        </p:spPr>
      </p:pic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0084" y="3738302"/>
            <a:ext cx="614363" cy="6143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65244" y="285750"/>
            <a:ext cx="1050131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6200" b="1" dirty="0">
                <a:solidFill>
                  <a:srgbClr val="2A2A4A">
                    <a:alpha val="80000"/>
                  </a:srgbClr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01</a:t>
            </a:r>
            <a:endParaRPr lang="en-US" sz="6200" dirty="0"/>
          </a:p>
        </p:txBody>
      </p:sp>
      <p:sp>
        <p:nvSpPr>
          <p:cNvPr id="4" name="Text 1"/>
          <p:cNvSpPr/>
          <p:nvPr/>
        </p:nvSpPr>
        <p:spPr>
          <a:xfrm>
            <a:off x="571500" y="428625"/>
            <a:ext cx="857250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What is an Intrusion Detection System (IDS)?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571500" y="877230"/>
            <a:ext cx="8572500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6B6B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Your Digital Guardian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71500" y="1254063"/>
            <a:ext cx="8001000" cy="742950"/>
          </a:xfrm>
          <a:prstGeom prst="rect">
            <a:avLst/>
          </a:prstGeom>
          <a:solidFill>
            <a:srgbClr val="2A2A4A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254063"/>
            <a:ext cx="35719" cy="74295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1254063"/>
            <a:ext cx="8001000" cy="74295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</a:t>
            </a:r>
            <a:r>
              <a:rPr lang="en-US" sz="1000" b="1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Intrusion Detection System (IDS)</a:t>
            </a:r>
            <a:r>
              <a:rPr lang="en-US" sz="10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 a security mechanism designed to monitor network or system activities for malicious behavior or policy violations and alert administrators.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2094" y="2211325"/>
            <a:ext cx="342900" cy="342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08491" y="2625663"/>
            <a:ext cx="85010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E0BBE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Detect Attacks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9091" y="2211325"/>
            <a:ext cx="385763" cy="3429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148705" y="2625663"/>
            <a:ext cx="846534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E0BBE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Monitor Traffic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0409" y="2211325"/>
            <a:ext cx="300038" cy="3429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860372" y="2625663"/>
            <a:ext cx="900113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E0BBE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Generate Alerts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571500" y="3134655"/>
            <a:ext cx="80010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Think of an IDS as a vigilant security guard patrolling your digital perimeter, constantly looking for suspicious activity and immediately raising an alarm when a threat is detected.</a:t>
            </a:r>
            <a:endParaRPr lang="en-US" sz="9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6968" y="3949043"/>
            <a:ext cx="321469" cy="25717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689622" y="4263368"/>
            <a:ext cx="71616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Network Traffic</a:t>
            </a:r>
            <a:endParaRPr lang="en-US" sz="7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48658" y="4091025"/>
            <a:ext cx="150019" cy="171450"/>
          </a:xfrm>
          <a:prstGeom prst="rect">
            <a:avLst/>
          </a:prstGeom>
        </p:spPr>
      </p:pic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61222" y="3949043"/>
            <a:ext cx="257175" cy="257175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3841552" y="4263368"/>
            <a:ext cx="6965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IDS Monitoring</a:t>
            </a:r>
            <a:endParaRPr lang="en-US" sz="75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80942" y="4091025"/>
            <a:ext cx="150019" cy="171450"/>
          </a:xfrm>
          <a:prstGeom prst="rect">
            <a:avLst/>
          </a:prstGeom>
        </p:spPr>
      </p:pic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39048" y="3949043"/>
            <a:ext cx="257175" cy="257175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4973836" y="4263368"/>
            <a:ext cx="78759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Detection Engine</a:t>
            </a:r>
            <a:endParaRPr lang="en-US" sz="75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04309" y="4091025"/>
            <a:ext cx="150019" cy="171450"/>
          </a:xfrm>
          <a:prstGeom prst="rect">
            <a:avLst/>
          </a:prstGeom>
        </p:spPr>
      </p:pic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97203" y="3949043"/>
            <a:ext cx="257175" cy="257175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6202561" y="4263368"/>
            <a:ext cx="24645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Alert!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65244" y="285750"/>
            <a:ext cx="1050131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6200" b="1" dirty="0">
                <a:solidFill>
                  <a:srgbClr val="2A2A4A">
                    <a:alpha val="80000"/>
                  </a:srgbClr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01</a:t>
            </a:r>
            <a:endParaRPr lang="en-US" sz="6200" dirty="0"/>
          </a:p>
        </p:txBody>
      </p:sp>
      <p:sp>
        <p:nvSpPr>
          <p:cNvPr id="4" name="Text 1"/>
          <p:cNvSpPr/>
          <p:nvPr/>
        </p:nvSpPr>
        <p:spPr>
          <a:xfrm>
            <a:off x="571500" y="428625"/>
            <a:ext cx="857250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Types of IDS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571500" y="877230"/>
            <a:ext cx="8572500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6B6B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Different Guards for Different Posts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71500" y="1254063"/>
            <a:ext cx="3086100" cy="26431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CAF50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BY LOCATION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71500" y="1661257"/>
            <a:ext cx="3086100" cy="869361"/>
          </a:xfrm>
          <a:prstGeom prst="rect">
            <a:avLst/>
          </a:prstGeom>
          <a:solidFill>
            <a:srgbClr val="2A2A4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56" y="1787165"/>
            <a:ext cx="142875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2969" y="1768413"/>
            <a:ext cx="1287661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0BBE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Network-based (NIDS)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78656" y="1955936"/>
            <a:ext cx="287178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Monitors traffic on entire network segments. Analyzes packet headers and payloads.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678656" y="2307375"/>
            <a:ext cx="2871788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4CAF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Example: Snort, Suricata</a:t>
            </a:r>
            <a:endParaRPr lang="en-US" sz="600" dirty="0"/>
          </a:p>
        </p:txBody>
      </p:sp>
      <p:sp>
        <p:nvSpPr>
          <p:cNvPr id="12" name="Shape 8"/>
          <p:cNvSpPr/>
          <p:nvPr/>
        </p:nvSpPr>
        <p:spPr>
          <a:xfrm>
            <a:off x="571500" y="2673493"/>
            <a:ext cx="3086100" cy="869361"/>
          </a:xfrm>
          <a:prstGeom prst="rect">
            <a:avLst/>
          </a:prstGeom>
          <a:solidFill>
            <a:srgbClr val="2A2A4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656" y="2799401"/>
            <a:ext cx="114300" cy="1143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4394" y="2780649"/>
            <a:ext cx="107692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0BBE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Host-based (HIDS)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678656" y="2968172"/>
            <a:ext cx="287178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Monitors individual systems. Analyzes system calls, file changes, and local logs.</a:t>
            </a:r>
            <a:endParaRPr lang="en-US" sz="750" dirty="0"/>
          </a:p>
        </p:txBody>
      </p:sp>
      <p:sp>
        <p:nvSpPr>
          <p:cNvPr id="16" name="Text 11"/>
          <p:cNvSpPr/>
          <p:nvPr/>
        </p:nvSpPr>
        <p:spPr>
          <a:xfrm>
            <a:off x="678656" y="3319611"/>
            <a:ext cx="2871788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4CAF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Example: OSSEC, Tripwire</a:t>
            </a:r>
            <a:endParaRPr lang="en-US" sz="600" dirty="0"/>
          </a:p>
        </p:txBody>
      </p:sp>
      <p:sp>
        <p:nvSpPr>
          <p:cNvPr id="17" name="Text 12"/>
          <p:cNvSpPr/>
          <p:nvPr/>
        </p:nvSpPr>
        <p:spPr>
          <a:xfrm>
            <a:off x="3943350" y="1254063"/>
            <a:ext cx="4629150" cy="26431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CAF50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BY DETECTION METHOD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943350" y="1661257"/>
            <a:ext cx="2260997" cy="985447"/>
          </a:xfrm>
          <a:prstGeom prst="rect">
            <a:avLst/>
          </a:prstGeom>
          <a:solidFill>
            <a:srgbClr val="2A2A4A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0506" y="1787165"/>
            <a:ext cx="114300" cy="1143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236244" y="1768413"/>
            <a:ext cx="944761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0BBE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Signature-based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4050506" y="1955936"/>
            <a:ext cx="204668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Matches patterns against a database of known threats.</a:t>
            </a:r>
            <a:endParaRPr lang="en-US" sz="750" dirty="0"/>
          </a:p>
        </p:txBody>
      </p:sp>
      <p:sp>
        <p:nvSpPr>
          <p:cNvPr id="22" name="Text 16"/>
          <p:cNvSpPr/>
          <p:nvPr/>
        </p:nvSpPr>
        <p:spPr>
          <a:xfrm>
            <a:off x="4050506" y="2307375"/>
            <a:ext cx="2046684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4CAF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Analogy: Checking fingerprints against a criminal database.</a:t>
            </a:r>
            <a:endParaRPr lang="en-US" sz="600" dirty="0"/>
          </a:p>
        </p:txBody>
      </p:sp>
      <p:sp>
        <p:nvSpPr>
          <p:cNvPr id="23" name="Shape 17"/>
          <p:cNvSpPr/>
          <p:nvPr/>
        </p:nvSpPr>
        <p:spPr>
          <a:xfrm>
            <a:off x="6311503" y="1661257"/>
            <a:ext cx="2260997" cy="985447"/>
          </a:xfrm>
          <a:prstGeom prst="rect">
            <a:avLst/>
          </a:prstGeom>
          <a:solidFill>
            <a:srgbClr val="2A2A4A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8659" y="1787165"/>
            <a:ext cx="114300" cy="1143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604397" y="1768413"/>
            <a:ext cx="898327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0BBE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Anomaly-based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6418659" y="1955936"/>
            <a:ext cx="204668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Flags deviations from a baseline of "normal" behavior.</a:t>
            </a:r>
            <a:endParaRPr lang="en-US" sz="750" dirty="0"/>
          </a:p>
        </p:txBody>
      </p:sp>
      <p:sp>
        <p:nvSpPr>
          <p:cNvPr id="27" name="Text 20"/>
          <p:cNvSpPr/>
          <p:nvPr/>
        </p:nvSpPr>
        <p:spPr>
          <a:xfrm>
            <a:off x="6418659" y="2307375"/>
            <a:ext cx="2046684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4CAF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Analogy: Bank flagging an unusual large transaction.</a:t>
            </a:r>
            <a:endParaRPr lang="en-US" sz="6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62340" y="2994068"/>
            <a:ext cx="114300" cy="1143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048077" y="2975316"/>
            <a:ext cx="605433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BBE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Hybrid IDS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4057650" y="3127121"/>
            <a:ext cx="44005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ultimate defender: Combines both signature and anomaly detection for maximum coverage.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How Does an IDS Work?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877230"/>
            <a:ext cx="8572500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6B6B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The Detection Pipeline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21531" y="1682688"/>
            <a:ext cx="714375" cy="714375"/>
          </a:xfrm>
          <a:prstGeom prst="rect">
            <a:avLst/>
          </a:prstGeom>
          <a:solidFill>
            <a:srgbClr val="2A2A4A"/>
          </a:solidFill>
          <a:ln w="18288">
            <a:solidFill>
              <a:srgbClr val="4CAF50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844" y="1897000"/>
            <a:ext cx="285750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8625" y="2539938"/>
            <a:ext cx="1500188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TRAFFIC COLLECTION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428625" y="2968563"/>
            <a:ext cx="1500188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Sensors capture raw network packets or system log files in real-time.</a:t>
            </a:r>
            <a:endParaRPr lang="en-US" sz="750" dirty="0"/>
          </a:p>
        </p:txBody>
      </p:sp>
      <p:sp>
        <p:nvSpPr>
          <p:cNvPr id="9" name="Shape 5"/>
          <p:cNvSpPr/>
          <p:nvPr/>
        </p:nvSpPr>
        <p:spPr>
          <a:xfrm>
            <a:off x="2518172" y="1682688"/>
            <a:ext cx="714375" cy="714375"/>
          </a:xfrm>
          <a:prstGeom prst="rect">
            <a:avLst/>
          </a:prstGeom>
          <a:solidFill>
            <a:srgbClr val="2A2A4A"/>
          </a:solidFill>
          <a:ln w="18288">
            <a:solidFill>
              <a:srgbClr val="4CAF50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2484" y="1897000"/>
            <a:ext cx="285750" cy="285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179737" y="2539938"/>
            <a:ext cx="139124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PACKET ANALYSIS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2125266" y="2961419"/>
            <a:ext cx="1500188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Raw data is parsed and inspected for protocol headers and payloads.</a:t>
            </a:r>
            <a:endParaRPr lang="en-US" sz="750" dirty="0"/>
          </a:p>
        </p:txBody>
      </p:sp>
      <p:sp>
        <p:nvSpPr>
          <p:cNvPr id="13" name="Shape 8"/>
          <p:cNvSpPr/>
          <p:nvPr/>
        </p:nvSpPr>
        <p:spPr>
          <a:xfrm>
            <a:off x="4214813" y="1682688"/>
            <a:ext cx="714375" cy="714375"/>
          </a:xfrm>
          <a:prstGeom prst="rect">
            <a:avLst/>
          </a:prstGeom>
          <a:solidFill>
            <a:srgbClr val="2A2A4A"/>
          </a:solidFill>
          <a:ln w="18288">
            <a:solidFill>
              <a:srgbClr val="4CAF50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9125" y="1897000"/>
            <a:ext cx="285750" cy="2857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821906" y="2539938"/>
            <a:ext cx="1500188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FEATURE EXTRACTION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3821906" y="2968563"/>
            <a:ext cx="1500188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attributes like IPs, ports, and packet sizes are isolated for processing.</a:t>
            </a:r>
            <a:endParaRPr lang="en-US" sz="750" dirty="0"/>
          </a:p>
        </p:txBody>
      </p:sp>
      <p:sp>
        <p:nvSpPr>
          <p:cNvPr id="17" name="Shape 11"/>
          <p:cNvSpPr/>
          <p:nvPr/>
        </p:nvSpPr>
        <p:spPr>
          <a:xfrm>
            <a:off x="5911453" y="1682688"/>
            <a:ext cx="714375" cy="714375"/>
          </a:xfrm>
          <a:prstGeom prst="rect">
            <a:avLst/>
          </a:prstGeom>
          <a:solidFill>
            <a:srgbClr val="2A2A4A"/>
          </a:solidFill>
          <a:ln w="18288">
            <a:solidFill>
              <a:srgbClr val="4CAF50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5766" y="1897000"/>
            <a:ext cx="285750" cy="28575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553373" y="2539938"/>
            <a:ext cx="143053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DETECTION ENGINE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5518547" y="2961419"/>
            <a:ext cx="1500188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Extracted features are compared against signatures or behavioral baselines.</a:t>
            </a:r>
            <a:endParaRPr lang="en-US" sz="750" dirty="0"/>
          </a:p>
        </p:txBody>
      </p:sp>
      <p:sp>
        <p:nvSpPr>
          <p:cNvPr id="21" name="Shape 14"/>
          <p:cNvSpPr/>
          <p:nvPr/>
        </p:nvSpPr>
        <p:spPr>
          <a:xfrm>
            <a:off x="7608094" y="1682688"/>
            <a:ext cx="714375" cy="714375"/>
          </a:xfrm>
          <a:prstGeom prst="rect">
            <a:avLst/>
          </a:prstGeom>
          <a:solidFill>
            <a:srgbClr val="2A2A4A"/>
          </a:solidFill>
          <a:ln w="18288">
            <a:solidFill>
              <a:srgbClr val="FF6B6B"/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40266" y="1897000"/>
            <a:ext cx="250031" cy="28575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215188" y="2539938"/>
            <a:ext cx="1500188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ALERT GENERATION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7215188" y="2968563"/>
            <a:ext cx="1500188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notification is triggered, detailing the threat type, severity, and source.</a:t>
            </a:r>
            <a:endParaRPr lang="en-US" sz="750" dirty="0"/>
          </a:p>
        </p:txBody>
      </p:sp>
      <p:sp>
        <p:nvSpPr>
          <p:cNvPr id="25" name="Shape 17"/>
          <p:cNvSpPr/>
          <p:nvPr/>
        </p:nvSpPr>
        <p:spPr>
          <a:xfrm>
            <a:off x="571500" y="3941564"/>
            <a:ext cx="8001000" cy="916186"/>
          </a:xfrm>
          <a:prstGeom prst="rect">
            <a:avLst/>
          </a:prstGeom>
          <a:solidFill>
            <a:srgbClr val="2A2A4A"/>
          </a:solidFill>
          <a:ln/>
        </p:spPr>
      </p:sp>
      <p:sp>
        <p:nvSpPr>
          <p:cNvPr id="26" name="Shape 18"/>
          <p:cNvSpPr/>
          <p:nvPr/>
        </p:nvSpPr>
        <p:spPr>
          <a:xfrm>
            <a:off x="571500" y="3941564"/>
            <a:ext cx="8001000" cy="28575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7" name="Text 19"/>
          <p:cNvSpPr/>
          <p:nvPr/>
        </p:nvSpPr>
        <p:spPr>
          <a:xfrm>
            <a:off x="714375" y="4113014"/>
            <a:ext cx="2381241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6B6B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Data Ingestion</a:t>
            </a:r>
            <a:endParaRPr lang="en-US" sz="750" dirty="0"/>
          </a:p>
        </p:txBody>
      </p:sp>
      <p:sp>
        <p:nvSpPr>
          <p:cNvPr id="28" name="Text 20"/>
          <p:cNvSpPr/>
          <p:nvPr/>
        </p:nvSpPr>
        <p:spPr>
          <a:xfrm>
            <a:off x="714375" y="4275534"/>
            <a:ext cx="2132409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Capturing every byte ensures no malicious</a:t>
            </a:r>
            <a:endParaRPr lang="en-US" sz="800" dirty="0"/>
          </a:p>
        </p:txBody>
      </p:sp>
      <p:sp>
        <p:nvSpPr>
          <p:cNvPr id="29" name="Text 21"/>
          <p:cNvSpPr/>
          <p:nvPr/>
        </p:nvSpPr>
        <p:spPr>
          <a:xfrm>
            <a:off x="714375" y="4421981"/>
            <a:ext cx="2080617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activity slips through the initial perimeter.</a:t>
            </a:r>
            <a:endParaRPr lang="en-US" sz="800" dirty="0"/>
          </a:p>
        </p:txBody>
      </p:sp>
      <p:sp>
        <p:nvSpPr>
          <p:cNvPr id="30" name="Text 22"/>
          <p:cNvSpPr/>
          <p:nvPr/>
        </p:nvSpPr>
        <p:spPr>
          <a:xfrm>
            <a:off x="3381366" y="4113014"/>
            <a:ext cx="2381241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6B6B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Intelligence Layer</a:t>
            </a:r>
            <a:endParaRPr lang="en-US" sz="750" dirty="0"/>
          </a:p>
        </p:txBody>
      </p:sp>
      <p:sp>
        <p:nvSpPr>
          <p:cNvPr id="31" name="Text 23"/>
          <p:cNvSpPr/>
          <p:nvPr/>
        </p:nvSpPr>
        <p:spPr>
          <a:xfrm>
            <a:off x="3381366" y="4275534"/>
            <a:ext cx="234315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Detection Engine is the "brain" where logic</a:t>
            </a:r>
            <a:endParaRPr lang="en-US" sz="800" dirty="0"/>
          </a:p>
        </p:txBody>
      </p:sp>
      <p:sp>
        <p:nvSpPr>
          <p:cNvPr id="32" name="Text 24"/>
          <p:cNvSpPr/>
          <p:nvPr/>
        </p:nvSpPr>
        <p:spPr>
          <a:xfrm>
            <a:off x="3381366" y="4421981"/>
            <a:ext cx="213419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determines if traffic is benign or malicious.</a:t>
            </a:r>
            <a:endParaRPr lang="en-US" sz="800" dirty="0"/>
          </a:p>
        </p:txBody>
      </p:sp>
      <p:sp>
        <p:nvSpPr>
          <p:cNvPr id="33" name="Text 25"/>
          <p:cNvSpPr/>
          <p:nvPr/>
        </p:nvSpPr>
        <p:spPr>
          <a:xfrm>
            <a:off x="6048356" y="4113014"/>
            <a:ext cx="2381241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6B6B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Actionable Output</a:t>
            </a:r>
            <a:endParaRPr lang="en-US" sz="750" dirty="0"/>
          </a:p>
        </p:txBody>
      </p:sp>
      <p:sp>
        <p:nvSpPr>
          <p:cNvPr id="34" name="Text 26"/>
          <p:cNvSpPr/>
          <p:nvPr/>
        </p:nvSpPr>
        <p:spPr>
          <a:xfrm>
            <a:off x="6048356" y="4275534"/>
            <a:ext cx="2060972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Alerts must be concise to prevent analyst</a:t>
            </a:r>
            <a:endParaRPr lang="en-US" sz="800" dirty="0"/>
          </a:p>
        </p:txBody>
      </p:sp>
      <p:sp>
        <p:nvSpPr>
          <p:cNvPr id="35" name="Text 27"/>
          <p:cNvSpPr/>
          <p:nvPr/>
        </p:nvSpPr>
        <p:spPr>
          <a:xfrm>
            <a:off x="6048356" y="4421981"/>
            <a:ext cx="1973461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fatigue while providing enough data for</a:t>
            </a:r>
            <a:endParaRPr lang="en-US" sz="800" dirty="0"/>
          </a:p>
        </p:txBody>
      </p:sp>
      <p:sp>
        <p:nvSpPr>
          <p:cNvPr id="36" name="Text 28"/>
          <p:cNvSpPr/>
          <p:nvPr/>
        </p:nvSpPr>
        <p:spPr>
          <a:xfrm>
            <a:off x="6048356" y="4568428"/>
            <a:ext cx="48220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forensics.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Challenges of Traditional IDS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877230"/>
            <a:ext cx="8572500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6B6B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Cracks in the Armor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71500" y="1396938"/>
            <a:ext cx="428625" cy="428625"/>
          </a:xfrm>
          <a:prstGeom prst="rect">
            <a:avLst/>
          </a:prstGeom>
          <a:solidFill>
            <a:srgbClr val="2A2A4A"/>
          </a:solidFill>
          <a:ln w="9144">
            <a:solidFill>
              <a:srgbClr val="FF6B6B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97" y="1511238"/>
            <a:ext cx="250031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000" y="1396938"/>
            <a:ext cx="3971925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0BBE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High False Positives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143000" y="1600535"/>
            <a:ext cx="39719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Legitimate activities are often flagged as threats, leading to severe alert fatigue for security teams.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571500" y="2099146"/>
            <a:ext cx="428625" cy="428625"/>
          </a:xfrm>
          <a:prstGeom prst="rect">
            <a:avLst/>
          </a:prstGeom>
          <a:solidFill>
            <a:srgbClr val="2A2A4A"/>
          </a:solidFill>
          <a:ln w="9144">
            <a:solidFill>
              <a:srgbClr val="FF6B6B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302" y="2213446"/>
            <a:ext cx="175022" cy="2000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2099146"/>
            <a:ext cx="3971925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0BBE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Zero-Day Blind Spot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1143000" y="2302743"/>
            <a:ext cx="39719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Signature-based systems are powerless against novel, never-before-seen attack patterns.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571500" y="2801355"/>
            <a:ext cx="428625" cy="428625"/>
          </a:xfrm>
          <a:prstGeom prst="rect">
            <a:avLst/>
          </a:prstGeom>
          <a:solidFill>
            <a:srgbClr val="2A2A4A"/>
          </a:solidFill>
          <a:ln w="9144">
            <a:solidFill>
              <a:srgbClr val="FF6B6B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915655"/>
            <a:ext cx="200025" cy="2000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43000" y="2801355"/>
            <a:ext cx="3971925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0BBE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Manual Maintenance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1143000" y="3004951"/>
            <a:ext cx="39719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Constant, labor-intensive signature updates are required to keep pace with evolving threats.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571500" y="3503563"/>
            <a:ext cx="428625" cy="428625"/>
          </a:xfrm>
          <a:prstGeom prst="rect">
            <a:avLst/>
          </a:prstGeom>
          <a:solidFill>
            <a:srgbClr val="2A2A4A"/>
          </a:solidFill>
          <a:ln w="9144">
            <a:solidFill>
              <a:srgbClr val="FF6B6B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302" y="3617863"/>
            <a:ext cx="175022" cy="20002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43000" y="3503563"/>
            <a:ext cx="3971925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0BBE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Scalability Issues</a:t>
            </a:r>
            <a:endParaRPr lang="en-US" sz="1050" dirty="0"/>
          </a:p>
        </p:txBody>
      </p:sp>
      <p:sp>
        <p:nvSpPr>
          <p:cNvPr id="20" name="Text 13"/>
          <p:cNvSpPr/>
          <p:nvPr/>
        </p:nvSpPr>
        <p:spPr>
          <a:xfrm>
            <a:off x="1143000" y="3707160"/>
            <a:ext cx="39719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Performance degrades significantly when processing high-volume, modern network traffic.</a:t>
            </a:r>
            <a:endParaRPr lang="en-US" sz="850" dirty="0"/>
          </a:p>
        </p:txBody>
      </p:sp>
      <p:sp>
        <p:nvSpPr>
          <p:cNvPr id="21" name="Shape 14"/>
          <p:cNvSpPr/>
          <p:nvPr/>
        </p:nvSpPr>
        <p:spPr>
          <a:xfrm>
            <a:off x="5543550" y="1396938"/>
            <a:ext cx="3028950" cy="1234083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2" name="Text 15"/>
          <p:cNvSpPr/>
          <p:nvPr/>
        </p:nvSpPr>
        <p:spPr>
          <a:xfrm>
            <a:off x="5757863" y="1611250"/>
            <a:ext cx="2600325" cy="430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1A1A2E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25%</a:t>
            </a:r>
            <a:endParaRPr lang="en-US" sz="2450" dirty="0"/>
          </a:p>
        </p:txBody>
      </p:sp>
      <p:sp>
        <p:nvSpPr>
          <p:cNvPr id="23" name="Text 16"/>
          <p:cNvSpPr/>
          <p:nvPr/>
        </p:nvSpPr>
        <p:spPr>
          <a:xfrm>
            <a:off x="5757863" y="2113099"/>
            <a:ext cx="2600325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of a security team's time is wasted chasing false positives [2].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5543550" y="3780495"/>
            <a:ext cx="3028950" cy="1077255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5" name="Text 18"/>
          <p:cNvSpPr/>
          <p:nvPr/>
        </p:nvSpPr>
        <p:spPr>
          <a:xfrm>
            <a:off x="5722144" y="3959089"/>
            <a:ext cx="2671763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1A1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"These inherent limitations necessitate a shift towards more intelligent and adaptive solutions, paving the way for Artificial Intelligence and Deep Learning."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90197" y="285750"/>
            <a:ext cx="1425178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6200" b="1" dirty="0">
                <a:solidFill>
                  <a:srgbClr val="2A2A4A">
                    <a:alpha val="80000"/>
                  </a:srgbClr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02</a:t>
            </a:r>
            <a:endParaRPr lang="en-US" sz="6200" dirty="0"/>
          </a:p>
        </p:txBody>
      </p:sp>
      <p:sp>
        <p:nvSpPr>
          <p:cNvPr id="4" name="Text 1"/>
          <p:cNvSpPr/>
          <p:nvPr/>
        </p:nvSpPr>
        <p:spPr>
          <a:xfrm>
            <a:off x="571500" y="428625"/>
            <a:ext cx="857250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Introduction to Deep Learning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571500" y="877230"/>
            <a:ext cx="8572500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6B6B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Teaching Machines to See Patterns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71500" y="1396938"/>
            <a:ext cx="3786188" cy="1158292"/>
          </a:xfrm>
          <a:prstGeom prst="rect">
            <a:avLst/>
          </a:prstGeom>
          <a:solidFill>
            <a:srgbClr val="2A2A4A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396938"/>
            <a:ext cx="35719" cy="115829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8" name="Text 5"/>
          <p:cNvSpPr/>
          <p:nvPr/>
        </p:nvSpPr>
        <p:spPr>
          <a:xfrm>
            <a:off x="714375" y="1539813"/>
            <a:ext cx="3500438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BBE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What is Deep Learning?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4375" y="1795202"/>
            <a:ext cx="350043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powerful subset of Artificial Intelligence inspired by the human brain's neural structure. It uses "deep" multi-layered networks to process data.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71500" y="2662386"/>
            <a:ext cx="3786188" cy="1158292"/>
          </a:xfrm>
          <a:prstGeom prst="rect">
            <a:avLst/>
          </a:prstGeom>
          <a:solidFill>
            <a:srgbClr val="2A2A4A"/>
          </a:solidFill>
          <a:ln/>
        </p:spPr>
      </p:sp>
      <p:sp>
        <p:nvSpPr>
          <p:cNvPr id="11" name="Shape 8"/>
          <p:cNvSpPr/>
          <p:nvPr/>
        </p:nvSpPr>
        <p:spPr>
          <a:xfrm>
            <a:off x="571500" y="2662386"/>
            <a:ext cx="35719" cy="115829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2" name="Text 9"/>
          <p:cNvSpPr/>
          <p:nvPr/>
        </p:nvSpPr>
        <p:spPr>
          <a:xfrm>
            <a:off x="714375" y="2805261"/>
            <a:ext cx="3500438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BBE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Automatic Learning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14375" y="3060650"/>
            <a:ext cx="350043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Unlike traditional systems, Deep Learning automatically extracts features from raw data, identifying complex patterns without human intervention.</a:t>
            </a:r>
            <a:endParaRPr lang="en-US" sz="9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013" y="4058461"/>
            <a:ext cx="285750" cy="2857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1500" y="4379929"/>
            <a:ext cx="116680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Neural Networks</a:t>
            </a:r>
            <a:endParaRPr lang="en-US" sz="7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1691" y="4058461"/>
            <a:ext cx="285750" cy="2857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81178" y="4379929"/>
            <a:ext cx="116680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Deep Layers</a:t>
            </a:r>
            <a:endParaRPr lang="en-US" sz="7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5650" y="4058461"/>
            <a:ext cx="357188" cy="2857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190856" y="4379929"/>
            <a:ext cx="116680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Auto-Detection</a:t>
            </a:r>
            <a:endParaRPr lang="en-US" sz="750" dirty="0"/>
          </a:p>
        </p:txBody>
      </p:sp>
      <p:sp>
        <p:nvSpPr>
          <p:cNvPr id="20" name="Text 14"/>
          <p:cNvSpPr/>
          <p:nvPr/>
        </p:nvSpPr>
        <p:spPr>
          <a:xfrm>
            <a:off x="4786313" y="1396938"/>
            <a:ext cx="3786188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kern="0" spc="1" dirty="0">
                <a:solidFill>
                  <a:srgbClr val="FF6B6B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THE "CAT" ANALOGY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4786313" y="1650541"/>
            <a:ext cx="3786188" cy="1275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D4D4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Imagine teaching a child to recognize a cat. Instead of giving them a list of rules (whiskers, tail, ears), you show them thousands of cat pictures. 
 Eventually, the child's brain learns the underlying patterns to identify a cat on its own. Deep Learning works the same way with network traffic data.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5652492" y="4174964"/>
            <a:ext cx="228600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957DAD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Input</a:t>
            </a:r>
            <a:endParaRPr lang="en-US" sz="600" dirty="0"/>
          </a:p>
        </p:txBody>
      </p:sp>
      <p:sp>
        <p:nvSpPr>
          <p:cNvPr id="23" name="Text 17"/>
          <p:cNvSpPr/>
          <p:nvPr/>
        </p:nvSpPr>
        <p:spPr>
          <a:xfrm>
            <a:off x="6166842" y="4299979"/>
            <a:ext cx="325041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957DAD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Hidden</a:t>
            </a:r>
            <a:endParaRPr lang="en-US" sz="600" dirty="0"/>
          </a:p>
        </p:txBody>
      </p:sp>
      <p:sp>
        <p:nvSpPr>
          <p:cNvPr id="24" name="Text 18"/>
          <p:cNvSpPr/>
          <p:nvPr/>
        </p:nvSpPr>
        <p:spPr>
          <a:xfrm>
            <a:off x="6777633" y="4299979"/>
            <a:ext cx="325041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957DAD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Hidden</a:t>
            </a:r>
            <a:endParaRPr lang="en-US" sz="600" dirty="0"/>
          </a:p>
        </p:txBody>
      </p:sp>
      <p:sp>
        <p:nvSpPr>
          <p:cNvPr id="25" name="Text 19"/>
          <p:cNvSpPr/>
          <p:nvPr/>
        </p:nvSpPr>
        <p:spPr>
          <a:xfrm>
            <a:off x="7388423" y="4049948"/>
            <a:ext cx="317897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957DAD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Output</a:t>
            </a:r>
            <a:endParaRPr lang="en-US" sz="600" dirty="0"/>
          </a:p>
        </p:txBody>
      </p:sp>
      <p:sp>
        <p:nvSpPr>
          <p:cNvPr id="26" name="Text 20"/>
          <p:cNvSpPr/>
          <p:nvPr/>
        </p:nvSpPr>
        <p:spPr>
          <a:xfrm>
            <a:off x="4786313" y="4568763"/>
            <a:ext cx="3786188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2525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Simplified Artificial Neural Network Architecture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Why Deep Learning for IDS?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877230"/>
            <a:ext cx="8572500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6B6B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The Intelligent Advantage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71500" y="1254063"/>
            <a:ext cx="4629150" cy="737927"/>
          </a:xfrm>
          <a:prstGeom prst="rect">
            <a:avLst/>
          </a:prstGeom>
          <a:solidFill>
            <a:srgbClr val="2A2A4A">
              <a:alpha val="5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254063"/>
            <a:ext cx="28575" cy="737927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56" y="1396938"/>
            <a:ext cx="150019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71550" y="1361219"/>
            <a:ext cx="4121944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0BBE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Detect Unknown Attacks (Zero-Day)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971550" y="1564816"/>
            <a:ext cx="412194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Identifies anomalous behavior deviating from normal patterns without needing prior signatures.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571500" y="2134865"/>
            <a:ext cx="4629150" cy="737927"/>
          </a:xfrm>
          <a:prstGeom prst="rect">
            <a:avLst/>
          </a:prstGeom>
          <a:solidFill>
            <a:srgbClr val="2A2A4A">
              <a:alpha val="50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571500" y="2134865"/>
            <a:ext cx="28575" cy="737927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656" y="2277740"/>
            <a:ext cx="171450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92981" y="2242021"/>
            <a:ext cx="4100513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0BBE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Automatic Feature Extraction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992981" y="2445618"/>
            <a:ext cx="410051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Eliminates manual feature engineering, automatically learning complex representations from raw data.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571500" y="3015667"/>
            <a:ext cx="4629150" cy="737927"/>
          </a:xfrm>
          <a:prstGeom prst="rect">
            <a:avLst/>
          </a:prstGeom>
          <a:solidFill>
            <a:srgbClr val="2A2A4A">
              <a:alpha val="50000"/>
            </a:srgbClr>
          </a:solidFill>
          <a:ln/>
        </p:spPr>
      </p:sp>
      <p:sp>
        <p:nvSpPr>
          <p:cNvPr id="16" name="Shape 11"/>
          <p:cNvSpPr/>
          <p:nvPr/>
        </p:nvSpPr>
        <p:spPr>
          <a:xfrm>
            <a:off x="571500" y="3015667"/>
            <a:ext cx="28575" cy="737927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656" y="3158542"/>
            <a:ext cx="171450" cy="1714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92981" y="3122823"/>
            <a:ext cx="4100513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0BBE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Superior Accuracy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992981" y="3326420"/>
            <a:ext cx="410051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Outperforms traditional methods in complex, high-dimensional network traffic environments.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571500" y="3896469"/>
            <a:ext cx="4629150" cy="737927"/>
          </a:xfrm>
          <a:prstGeom prst="rect">
            <a:avLst/>
          </a:prstGeom>
          <a:solidFill>
            <a:srgbClr val="2A2A4A">
              <a:alpha val="50000"/>
            </a:srgbClr>
          </a:solidFill>
          <a:ln/>
        </p:spPr>
      </p:sp>
      <p:sp>
        <p:nvSpPr>
          <p:cNvPr id="21" name="Shape 15"/>
          <p:cNvSpPr/>
          <p:nvPr/>
        </p:nvSpPr>
        <p:spPr>
          <a:xfrm>
            <a:off x="571500" y="3896469"/>
            <a:ext cx="28575" cy="737927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656" y="4039344"/>
            <a:ext cx="150019" cy="17145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71550" y="4003625"/>
            <a:ext cx="4121944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0BBE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Scalability &amp; Real-time Analysis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971550" y="4207222"/>
            <a:ext cx="412194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Processes massive datasets efficiently, enabling near real-time threat detection in high-bandwidth networks.</a:t>
            </a:r>
            <a:endParaRPr lang="en-US" sz="850" dirty="0"/>
          </a:p>
        </p:txBody>
      </p:sp>
      <p:sp>
        <p:nvSpPr>
          <p:cNvPr id="25" name="Shape 18"/>
          <p:cNvSpPr/>
          <p:nvPr/>
        </p:nvSpPr>
        <p:spPr>
          <a:xfrm>
            <a:off x="5486400" y="1254063"/>
            <a:ext cx="3086100" cy="1918097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6" name="Text 19"/>
          <p:cNvSpPr/>
          <p:nvPr/>
        </p:nvSpPr>
        <p:spPr>
          <a:xfrm>
            <a:off x="5700713" y="1468375"/>
            <a:ext cx="2657475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DETECTION ACCURACY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5700713" y="1743410"/>
            <a:ext cx="2657475" cy="507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1A1A2E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90%</a:t>
            </a:r>
            <a:endParaRPr lang="en-US" sz="3300" dirty="0"/>
          </a:p>
        </p:txBody>
      </p:sp>
      <p:sp>
        <p:nvSpPr>
          <p:cNvPr id="28" name="Text 21"/>
          <p:cNvSpPr/>
          <p:nvPr/>
        </p:nvSpPr>
        <p:spPr>
          <a:xfrm>
            <a:off x="5700713" y="2423852"/>
            <a:ext cx="265747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Achieved on benchmark datasets like NSL-KDD using Deep Learning models [3].</a:t>
            </a:r>
            <a:endParaRPr lang="en-US" sz="850" dirty="0"/>
          </a:p>
        </p:txBody>
      </p:sp>
      <p:sp>
        <p:nvSpPr>
          <p:cNvPr id="29" name="Text 22"/>
          <p:cNvSpPr/>
          <p:nvPr/>
        </p:nvSpPr>
        <p:spPr>
          <a:xfrm>
            <a:off x="5700713" y="2841761"/>
            <a:ext cx="2657475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1A1A2E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IEEE Access Research</a:t>
            </a:r>
            <a:endParaRPr lang="en-US" sz="600" dirty="0"/>
          </a:p>
        </p:txBody>
      </p:sp>
      <p:sp>
        <p:nvSpPr>
          <p:cNvPr id="30" name="Shape 23"/>
          <p:cNvSpPr/>
          <p:nvPr/>
        </p:nvSpPr>
        <p:spPr>
          <a:xfrm>
            <a:off x="5486400" y="3386472"/>
            <a:ext cx="3086100" cy="1471278"/>
          </a:xfrm>
          <a:prstGeom prst="rect">
            <a:avLst/>
          </a:prstGeom>
          <a:solidFill>
            <a:srgbClr val="2A2A4A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3700" y="3706881"/>
            <a:ext cx="571500" cy="5715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94537" y="4385537"/>
            <a:ext cx="1469827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957DA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Self-Learning Intelligence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Deep Learning Models in IDS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877230"/>
            <a:ext cx="8572500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6B6B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The Neural Arsenal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71500" y="1396938"/>
            <a:ext cx="2524116" cy="3460812"/>
          </a:xfrm>
          <a:prstGeom prst="rect">
            <a:avLst/>
          </a:prstGeom>
          <a:solidFill>
            <a:srgbClr val="2A2A4A">
              <a:alpha val="4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396938"/>
            <a:ext cx="2524116" cy="28575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4950" y="1611250"/>
            <a:ext cx="357188" cy="3571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4375" y="2182750"/>
            <a:ext cx="2238366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CNN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14375" y="2593516"/>
            <a:ext cx="223836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80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Convolutional Neural Networks excel at spatial feature extraction, identifying local patterns in data structures.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714375" y="4048413"/>
            <a:ext cx="223836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4CAF5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IDS USE CASE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714375" y="4223435"/>
            <a:ext cx="2238366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i="1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Analyzing network packet headers or raw byte sequences as images to detect malicious code patterns.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3309928" y="1396938"/>
            <a:ext cx="2524116" cy="3460812"/>
          </a:xfrm>
          <a:prstGeom prst="rect">
            <a:avLst/>
          </a:prstGeom>
          <a:solidFill>
            <a:srgbClr val="2A2A4A">
              <a:alpha val="40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3309928" y="1396938"/>
            <a:ext cx="2524116" cy="28575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1054" y="1611250"/>
            <a:ext cx="401836" cy="3571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52803" y="2182750"/>
            <a:ext cx="2238366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RNN / LSTM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3452803" y="2593516"/>
            <a:ext cx="223836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80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Recurrent Neural Networks and LSTMs are designed for sequential data, capturing long-term temporal dependencies.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3452803" y="4048413"/>
            <a:ext cx="223836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4CAF5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IDS USE CASE</a:t>
            </a:r>
            <a:endParaRPr lang="en-US" sz="700" dirty="0"/>
          </a:p>
        </p:txBody>
      </p:sp>
      <p:sp>
        <p:nvSpPr>
          <p:cNvPr id="18" name="Text 13"/>
          <p:cNvSpPr/>
          <p:nvPr/>
        </p:nvSpPr>
        <p:spPr>
          <a:xfrm>
            <a:off x="3452803" y="4223435"/>
            <a:ext cx="2238366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i="1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Identifying multi-stage attacks and abnormal communication sequences in network traffic flows.</a:t>
            </a:r>
            <a:endParaRPr lang="en-US" sz="750" dirty="0"/>
          </a:p>
        </p:txBody>
      </p:sp>
      <p:sp>
        <p:nvSpPr>
          <p:cNvPr id="19" name="Shape 14"/>
          <p:cNvSpPr/>
          <p:nvPr/>
        </p:nvSpPr>
        <p:spPr>
          <a:xfrm>
            <a:off x="6048356" y="1396938"/>
            <a:ext cx="2524144" cy="3460812"/>
          </a:xfrm>
          <a:prstGeom prst="rect">
            <a:avLst/>
          </a:prstGeom>
          <a:solidFill>
            <a:srgbClr val="2A2A4A">
              <a:alpha val="40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6048356" y="1396938"/>
            <a:ext cx="2524144" cy="28575"/>
          </a:xfrm>
          <a:prstGeom prst="rect">
            <a:avLst/>
          </a:prstGeom>
          <a:solidFill>
            <a:srgbClr val="E0BBE4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1834" y="1611250"/>
            <a:ext cx="357188" cy="3571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191231" y="2182750"/>
            <a:ext cx="2238394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Autoencoders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191231" y="2593516"/>
            <a:ext cx="223839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80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Unsupervised models that learn compressed representations of normal data for reconstruction-based detection.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6191231" y="4048413"/>
            <a:ext cx="2238394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4CAF5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IDS USE CASE</a:t>
            </a:r>
            <a:endParaRPr lang="en-US" sz="700" dirty="0"/>
          </a:p>
        </p:txBody>
      </p:sp>
      <p:sp>
        <p:nvSpPr>
          <p:cNvPr id="25" name="Text 19"/>
          <p:cNvSpPr/>
          <p:nvPr/>
        </p:nvSpPr>
        <p:spPr>
          <a:xfrm>
            <a:off x="6191231" y="4223435"/>
            <a:ext cx="2238394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i="1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Establishing behavioral baselines and flagging traffic that deviates from normal network flow characteristics.</a:t>
            </a:r>
            <a:endParaRPr lang="en-US" sz="750" dirty="0"/>
          </a:p>
        </p:txBody>
      </p:sp>
      <p:sp>
        <p:nvSpPr>
          <p:cNvPr id="26" name="Text 20"/>
          <p:cNvSpPr/>
          <p:nvPr/>
        </p:nvSpPr>
        <p:spPr>
          <a:xfrm>
            <a:off x="7525941" y="3962995"/>
            <a:ext cx="1189434" cy="8947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2A2A4A">
                    <a:alpha val="50000"/>
                  </a:srgbClr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02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Deep Learning Based IDS Architecture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877230"/>
            <a:ext cx="8572500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6B6B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The Intelligent Pipeline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02754" y="1892926"/>
            <a:ext cx="571500" cy="571500"/>
          </a:xfrm>
          <a:prstGeom prst="rect">
            <a:avLst/>
          </a:prstGeom>
          <a:solidFill>
            <a:srgbClr val="2A2A4A"/>
          </a:solidFill>
          <a:ln w="18288">
            <a:solidFill>
              <a:srgbClr val="4CAF50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29" y="2064376"/>
            <a:ext cx="28575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0398" y="2571583"/>
            <a:ext cx="111621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NETWORK TRAFFIC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285750" y="2885908"/>
            <a:ext cx="1205508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60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Raw data streams, packets, and flow logs.</a:t>
            </a:r>
            <a:endParaRPr lang="en-US" sz="600" dirty="0"/>
          </a:p>
        </p:txBody>
      </p:sp>
      <p:sp>
        <p:nvSpPr>
          <p:cNvPr id="9" name="Shape 5"/>
          <p:cNvSpPr/>
          <p:nvPr/>
        </p:nvSpPr>
        <p:spPr>
          <a:xfrm>
            <a:off x="2076152" y="1892926"/>
            <a:ext cx="571500" cy="571500"/>
          </a:xfrm>
          <a:prstGeom prst="rect">
            <a:avLst/>
          </a:prstGeom>
          <a:solidFill>
            <a:srgbClr val="2A2A4A"/>
          </a:solidFill>
          <a:ln w="18288">
            <a:solidFill>
              <a:srgbClr val="4CAF50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9027" y="2064376"/>
            <a:ext cx="28575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866305" y="2571583"/>
            <a:ext cx="99119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PREPROCESSING</a:t>
            </a:r>
            <a:endParaRPr lang="en-US" sz="700" dirty="0"/>
          </a:p>
        </p:txBody>
      </p:sp>
      <p:sp>
        <p:nvSpPr>
          <p:cNvPr id="12" name="Text 7"/>
          <p:cNvSpPr/>
          <p:nvPr/>
        </p:nvSpPr>
        <p:spPr>
          <a:xfrm>
            <a:off x="1759148" y="2885908"/>
            <a:ext cx="1205508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60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Cleaning, normalization, and encoding.</a:t>
            </a:r>
            <a:endParaRPr lang="en-US" sz="600" dirty="0"/>
          </a:p>
        </p:txBody>
      </p:sp>
      <p:sp>
        <p:nvSpPr>
          <p:cNvPr id="13" name="Shape 8"/>
          <p:cNvSpPr/>
          <p:nvPr/>
        </p:nvSpPr>
        <p:spPr>
          <a:xfrm>
            <a:off x="3549551" y="1887569"/>
            <a:ext cx="571500" cy="571500"/>
          </a:xfrm>
          <a:prstGeom prst="rect">
            <a:avLst/>
          </a:prstGeom>
          <a:solidFill>
            <a:srgbClr val="2A2A4A"/>
          </a:solidFill>
          <a:ln w="18288">
            <a:solidFill>
              <a:srgbClr val="4CAF50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1001" y="2059019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232547" y="2566225"/>
            <a:ext cx="1205508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FEATURE EXTRACTION</a:t>
            </a:r>
            <a:endParaRPr lang="en-US" sz="700" dirty="0"/>
          </a:p>
        </p:txBody>
      </p:sp>
      <p:sp>
        <p:nvSpPr>
          <p:cNvPr id="16" name="Text 10"/>
          <p:cNvSpPr/>
          <p:nvPr/>
        </p:nvSpPr>
        <p:spPr>
          <a:xfrm>
            <a:off x="3232547" y="2891265"/>
            <a:ext cx="1205508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60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Automatic isolation of relevant attributes.</a:t>
            </a:r>
            <a:endParaRPr lang="en-US" sz="600" dirty="0"/>
          </a:p>
        </p:txBody>
      </p:sp>
      <p:sp>
        <p:nvSpPr>
          <p:cNvPr id="17" name="Shape 11"/>
          <p:cNvSpPr/>
          <p:nvPr/>
        </p:nvSpPr>
        <p:spPr>
          <a:xfrm>
            <a:off x="4951512" y="1821489"/>
            <a:ext cx="714375" cy="714375"/>
          </a:xfrm>
          <a:prstGeom prst="rect">
            <a:avLst/>
          </a:prstGeom>
          <a:solidFill>
            <a:srgbClr val="FF6B6B"/>
          </a:solidFill>
          <a:ln w="18288">
            <a:solidFill>
              <a:srgbClr val="E0BBE4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7249" y="2007226"/>
            <a:ext cx="342900" cy="3429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005090" y="2643020"/>
            <a:ext cx="60721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DL MODEL</a:t>
            </a:r>
            <a:endParaRPr lang="en-US" sz="700" dirty="0"/>
          </a:p>
        </p:txBody>
      </p:sp>
      <p:sp>
        <p:nvSpPr>
          <p:cNvPr id="20" name="Text 13"/>
          <p:cNvSpPr/>
          <p:nvPr/>
        </p:nvSpPr>
        <p:spPr>
          <a:xfrm>
            <a:off x="4705945" y="2957345"/>
            <a:ext cx="1205508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60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CNN, RNN, or LSTM processing engine.</a:t>
            </a:r>
            <a:endParaRPr lang="en-US" sz="600" dirty="0"/>
          </a:p>
        </p:txBody>
      </p:sp>
      <p:sp>
        <p:nvSpPr>
          <p:cNvPr id="21" name="Shape 14"/>
          <p:cNvSpPr/>
          <p:nvPr/>
        </p:nvSpPr>
        <p:spPr>
          <a:xfrm>
            <a:off x="6496348" y="1892926"/>
            <a:ext cx="571500" cy="571500"/>
          </a:xfrm>
          <a:prstGeom prst="rect">
            <a:avLst/>
          </a:prstGeom>
          <a:solidFill>
            <a:srgbClr val="2A2A4A"/>
          </a:solidFill>
          <a:ln w="18288">
            <a:solidFill>
              <a:srgbClr val="4CAF50"/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798" y="2064376"/>
            <a:ext cx="228600" cy="2286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305252" y="2571583"/>
            <a:ext cx="95369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CLASSIFICATION</a:t>
            </a:r>
            <a:endParaRPr lang="en-US" sz="700" dirty="0"/>
          </a:p>
        </p:txBody>
      </p:sp>
      <p:sp>
        <p:nvSpPr>
          <p:cNvPr id="24" name="Text 16"/>
          <p:cNvSpPr/>
          <p:nvPr/>
        </p:nvSpPr>
        <p:spPr>
          <a:xfrm>
            <a:off x="6179344" y="2885908"/>
            <a:ext cx="1205508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60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Normal vs. Malicious categorization.</a:t>
            </a:r>
            <a:endParaRPr lang="en-US" sz="600" dirty="0"/>
          </a:p>
        </p:txBody>
      </p:sp>
      <p:sp>
        <p:nvSpPr>
          <p:cNvPr id="25" name="Shape 17"/>
          <p:cNvSpPr/>
          <p:nvPr/>
        </p:nvSpPr>
        <p:spPr>
          <a:xfrm>
            <a:off x="7969746" y="1892926"/>
            <a:ext cx="571500" cy="571500"/>
          </a:xfrm>
          <a:prstGeom prst="rect">
            <a:avLst/>
          </a:prstGeom>
          <a:solidFill>
            <a:srgbClr val="2A2A4A"/>
          </a:solidFill>
          <a:ln w="18288">
            <a:solidFill>
              <a:srgbClr val="4CAF50"/>
            </a:solidFill>
            <a:prstDash val="solid"/>
          </a:ln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55484" y="2064376"/>
            <a:ext cx="200025" cy="2286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962602" y="2571583"/>
            <a:ext cx="5857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ALERTING</a:t>
            </a:r>
            <a:endParaRPr lang="en-US" sz="700" dirty="0"/>
          </a:p>
        </p:txBody>
      </p:sp>
      <p:sp>
        <p:nvSpPr>
          <p:cNvPr id="28" name="Text 19"/>
          <p:cNvSpPr/>
          <p:nvPr/>
        </p:nvSpPr>
        <p:spPr>
          <a:xfrm>
            <a:off x="7652742" y="2885908"/>
            <a:ext cx="1205508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60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Actionable security notifications.</a:t>
            </a:r>
            <a:endParaRPr lang="en-US" sz="600" dirty="0"/>
          </a:p>
        </p:txBody>
      </p:sp>
      <p:sp>
        <p:nvSpPr>
          <p:cNvPr id="29" name="Shape 20"/>
          <p:cNvSpPr/>
          <p:nvPr/>
        </p:nvSpPr>
        <p:spPr>
          <a:xfrm>
            <a:off x="571500" y="3907631"/>
            <a:ext cx="8001000" cy="950119"/>
          </a:xfrm>
          <a:prstGeom prst="rect">
            <a:avLst/>
          </a:prstGeom>
          <a:solidFill>
            <a:srgbClr val="2A2A4A">
              <a:alpha val="80000"/>
            </a:srgbClr>
          </a:solidFill>
          <a:ln/>
        </p:spPr>
      </p:sp>
      <p:sp>
        <p:nvSpPr>
          <p:cNvPr id="30" name="Shape 21"/>
          <p:cNvSpPr/>
          <p:nvPr/>
        </p:nvSpPr>
        <p:spPr>
          <a:xfrm>
            <a:off x="571500" y="3907631"/>
            <a:ext cx="8001000" cy="28575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1" name="Text 22"/>
          <p:cNvSpPr/>
          <p:nvPr/>
        </p:nvSpPr>
        <p:spPr>
          <a:xfrm>
            <a:off x="714375" y="4079081"/>
            <a:ext cx="24288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FF6B6B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End-to-End Learning</a:t>
            </a:r>
            <a:endParaRPr lang="en-US" sz="700" dirty="0"/>
          </a:p>
        </p:txBody>
      </p:sp>
      <p:sp>
        <p:nvSpPr>
          <p:cNvPr id="32" name="Text 23"/>
          <p:cNvSpPr/>
          <p:nvPr/>
        </p:nvSpPr>
        <p:spPr>
          <a:xfrm>
            <a:off x="714375" y="4271963"/>
            <a:ext cx="215205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pipeline minimizes human intervention by</a:t>
            </a:r>
            <a:endParaRPr lang="en-US" sz="750" dirty="0"/>
          </a:p>
        </p:txBody>
      </p:sp>
      <p:sp>
        <p:nvSpPr>
          <p:cNvPr id="33" name="Text 24"/>
          <p:cNvSpPr/>
          <p:nvPr/>
        </p:nvSpPr>
        <p:spPr>
          <a:xfrm>
            <a:off x="714375" y="4421981"/>
            <a:ext cx="22217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allowing the model to learn directly from raw or</a:t>
            </a:r>
            <a:endParaRPr lang="en-US" sz="750" dirty="0"/>
          </a:p>
        </p:txBody>
      </p:sp>
      <p:sp>
        <p:nvSpPr>
          <p:cNvPr id="34" name="Text 25"/>
          <p:cNvSpPr/>
          <p:nvPr/>
        </p:nvSpPr>
        <p:spPr>
          <a:xfrm>
            <a:off x="714375" y="4572000"/>
            <a:ext cx="121800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minimally processed data.</a:t>
            </a:r>
            <a:endParaRPr lang="en-US" sz="750" dirty="0"/>
          </a:p>
        </p:txBody>
      </p:sp>
      <p:sp>
        <p:nvSpPr>
          <p:cNvPr id="35" name="Text 26"/>
          <p:cNvSpPr/>
          <p:nvPr/>
        </p:nvSpPr>
        <p:spPr>
          <a:xfrm>
            <a:off x="3357563" y="4079081"/>
            <a:ext cx="24288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FF6B6B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Model Versatility</a:t>
            </a:r>
            <a:endParaRPr lang="en-US" sz="700" dirty="0"/>
          </a:p>
        </p:txBody>
      </p:sp>
      <p:sp>
        <p:nvSpPr>
          <p:cNvPr id="36" name="Text 27"/>
          <p:cNvSpPr/>
          <p:nvPr/>
        </p:nvSpPr>
        <p:spPr>
          <a:xfrm>
            <a:off x="3357563" y="4271963"/>
            <a:ext cx="228421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Different architectures (CNN for spatial, LSTM for</a:t>
            </a:r>
            <a:endParaRPr lang="en-US" sz="750" dirty="0"/>
          </a:p>
        </p:txBody>
      </p:sp>
      <p:sp>
        <p:nvSpPr>
          <p:cNvPr id="37" name="Text 28"/>
          <p:cNvSpPr/>
          <p:nvPr/>
        </p:nvSpPr>
        <p:spPr>
          <a:xfrm>
            <a:off x="3357563" y="4421981"/>
            <a:ext cx="21717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temporal) can be swapped into the "DL Model"</a:t>
            </a:r>
            <a:endParaRPr lang="en-US" sz="750" dirty="0"/>
          </a:p>
        </p:txBody>
      </p:sp>
      <p:sp>
        <p:nvSpPr>
          <p:cNvPr id="38" name="Text 29"/>
          <p:cNvSpPr/>
          <p:nvPr/>
        </p:nvSpPr>
        <p:spPr>
          <a:xfrm>
            <a:off x="3357563" y="4572000"/>
            <a:ext cx="12590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based on traffic type.</a:t>
            </a:r>
            <a:endParaRPr lang="en-US" sz="750" dirty="0"/>
          </a:p>
        </p:txBody>
      </p:sp>
      <p:sp>
        <p:nvSpPr>
          <p:cNvPr id="39" name="Text 30"/>
          <p:cNvSpPr/>
          <p:nvPr/>
        </p:nvSpPr>
        <p:spPr>
          <a:xfrm>
            <a:off x="6000750" y="4079081"/>
            <a:ext cx="24288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FF6B6B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Scalable Detection</a:t>
            </a:r>
            <a:endParaRPr lang="en-US" sz="700" dirty="0"/>
          </a:p>
        </p:txBody>
      </p:sp>
      <p:sp>
        <p:nvSpPr>
          <p:cNvPr id="40" name="Text 31"/>
          <p:cNvSpPr/>
          <p:nvPr/>
        </p:nvSpPr>
        <p:spPr>
          <a:xfrm>
            <a:off x="6000750" y="4271963"/>
            <a:ext cx="221813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modular architecture allows for distributed</a:t>
            </a:r>
            <a:endParaRPr lang="en-US" sz="750" dirty="0"/>
          </a:p>
        </p:txBody>
      </p:sp>
      <p:sp>
        <p:nvSpPr>
          <p:cNvPr id="41" name="Text 32"/>
          <p:cNvSpPr/>
          <p:nvPr/>
        </p:nvSpPr>
        <p:spPr>
          <a:xfrm>
            <a:off x="6000750" y="4421981"/>
            <a:ext cx="214669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deployment across high-bandwidth enterprise</a:t>
            </a:r>
            <a:endParaRPr lang="en-US" sz="750" dirty="0"/>
          </a:p>
        </p:txBody>
      </p:sp>
      <p:sp>
        <p:nvSpPr>
          <p:cNvPr id="42" name="Text 33"/>
          <p:cNvSpPr/>
          <p:nvPr/>
        </p:nvSpPr>
        <p:spPr>
          <a:xfrm>
            <a:off x="6000750" y="4572000"/>
            <a:ext cx="4572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networks.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Limitations of Deep Learning IDS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877230"/>
            <a:ext cx="8572500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6B6B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The Unseen Hurdles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71500" y="1396938"/>
            <a:ext cx="3857625" cy="1511629"/>
          </a:xfrm>
          <a:prstGeom prst="rect">
            <a:avLst/>
          </a:prstGeom>
          <a:solidFill>
            <a:srgbClr val="2A2A4A">
              <a:alpha val="4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396938"/>
            <a:ext cx="3857625" cy="28575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94" y="1579104"/>
            <a:ext cx="150019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7269" y="1575532"/>
            <a:ext cx="1823442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DATA REQUIREMENTS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50094" y="1861282"/>
            <a:ext cx="350043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Effective training demands massive, diverse, and accurately labeled datasets, which are often scarce and difficult to obtain in cybersecurity.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4714875" y="1396938"/>
            <a:ext cx="3857625" cy="1511629"/>
          </a:xfrm>
          <a:prstGeom prst="rect">
            <a:avLst/>
          </a:prstGeom>
          <a:solidFill>
            <a:srgbClr val="2A2A4A">
              <a:alpha val="40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4714875" y="1396938"/>
            <a:ext cx="3857625" cy="28575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1579104"/>
            <a:ext cx="171450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72075" y="1575532"/>
            <a:ext cx="1939528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COMPUTATIONAL COST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4893469" y="1861282"/>
            <a:ext cx="350043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complex deep neural networks is resource-intensive, requiring high-performance GPUs and significant time for convergence.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571500" y="3194317"/>
            <a:ext cx="3857625" cy="1511629"/>
          </a:xfrm>
          <a:prstGeom prst="rect">
            <a:avLst/>
          </a:prstGeom>
          <a:solidFill>
            <a:srgbClr val="2A2A4A">
              <a:alpha val="40000"/>
            </a:srgbClr>
          </a:solidFill>
          <a:ln/>
        </p:spPr>
      </p:sp>
      <p:sp>
        <p:nvSpPr>
          <p:cNvPr id="16" name="Shape 11"/>
          <p:cNvSpPr/>
          <p:nvPr/>
        </p:nvSpPr>
        <p:spPr>
          <a:xfrm>
            <a:off x="571500" y="3194317"/>
            <a:ext cx="3857625" cy="28575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094" y="3376482"/>
            <a:ext cx="171450" cy="1714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28700" y="3372910"/>
            <a:ext cx="1878806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TRAINING COMPLEXITY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750094" y="3658660"/>
            <a:ext cx="350043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Designing, tuning, and optimizing architectures requires specialized expertise and extensive trial-and-error to achieve optimal performance.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4714875" y="3194317"/>
            <a:ext cx="3857625" cy="1511629"/>
          </a:xfrm>
          <a:prstGeom prst="rect">
            <a:avLst/>
          </a:prstGeom>
          <a:solidFill>
            <a:srgbClr val="2A2A4A">
              <a:alpha val="40000"/>
            </a:srgbClr>
          </a:solidFill>
          <a:ln/>
        </p:spPr>
      </p:sp>
      <p:sp>
        <p:nvSpPr>
          <p:cNvPr id="21" name="Shape 15"/>
          <p:cNvSpPr/>
          <p:nvPr/>
        </p:nvSpPr>
        <p:spPr>
          <a:xfrm>
            <a:off x="4714875" y="3194317"/>
            <a:ext cx="3857625" cy="28575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3469" y="3376482"/>
            <a:ext cx="214313" cy="17145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14938" y="3372910"/>
            <a:ext cx="1543050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PRIVACY &amp; TRUST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4893469" y="3658660"/>
            <a:ext cx="350043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Using real-world traffic raises privacy concerns, while centralized architectures create single points of failure and lack transparency.</a:t>
            </a:r>
            <a:endParaRPr lang="en-US" sz="850" dirty="0"/>
          </a:p>
        </p:txBody>
      </p:sp>
      <p:sp>
        <p:nvSpPr>
          <p:cNvPr id="25" name="Shape 18"/>
          <p:cNvSpPr/>
          <p:nvPr/>
        </p:nvSpPr>
        <p:spPr>
          <a:xfrm>
            <a:off x="0" y="4705945"/>
            <a:ext cx="9144000" cy="437555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6" name="Text 19"/>
          <p:cNvSpPr/>
          <p:nvPr/>
        </p:nvSpPr>
        <p:spPr>
          <a:xfrm>
            <a:off x="571500" y="4848820"/>
            <a:ext cx="800100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1A1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"To overcome security and trust issues, Blockchain technology can be integrated with IDS, offering decentralization and immutability."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93769" y="285750"/>
            <a:ext cx="1421606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6200" b="1" dirty="0">
                <a:solidFill>
                  <a:srgbClr val="2A2A4A">
                    <a:alpha val="80000"/>
                  </a:srgbClr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03</a:t>
            </a:r>
            <a:endParaRPr lang="en-US" sz="6200" dirty="0"/>
          </a:p>
        </p:txBody>
      </p:sp>
      <p:sp>
        <p:nvSpPr>
          <p:cNvPr id="4" name="Text 1"/>
          <p:cNvSpPr/>
          <p:nvPr/>
        </p:nvSpPr>
        <p:spPr>
          <a:xfrm>
            <a:off x="571500" y="428625"/>
            <a:ext cx="857250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Introduction to Blockchain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571500" y="877230"/>
            <a:ext cx="8572500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6B6B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The Trust Ledger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71500" y="1254063"/>
            <a:ext cx="8001000" cy="838274"/>
          </a:xfrm>
          <a:prstGeom prst="rect">
            <a:avLst/>
          </a:prstGeom>
          <a:solidFill>
            <a:srgbClr val="2A2A4A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254063"/>
            <a:ext cx="35719" cy="83827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8" name="Text 5"/>
          <p:cNvSpPr/>
          <p:nvPr/>
        </p:nvSpPr>
        <p:spPr>
          <a:xfrm>
            <a:off x="657225" y="1339788"/>
            <a:ext cx="7829550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BBE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DISTRIBUTED LEDGER TECHNOLOGY (DLT)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7225" y="1595177"/>
            <a:ext cx="78295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decentralized, distributed digital ledger that records transactions across many computers. It ensures that records cannot be altered retroactively without the consensus of the network.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71500" y="2178062"/>
            <a:ext cx="3957638" cy="638975"/>
          </a:xfrm>
          <a:prstGeom prst="rect">
            <a:avLst/>
          </a:prstGeom>
          <a:solidFill>
            <a:srgbClr val="2A2A4A">
              <a:alpha val="50000"/>
            </a:srgbClr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519" y="2385929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28713" y="2263787"/>
            <a:ext cx="331470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0BBE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Security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8713" y="2451311"/>
            <a:ext cx="331470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Cryptographic hashing and consensus mechanisms ensure data integrity and prevent unauthorized tampering.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4614863" y="2178062"/>
            <a:ext cx="3957638" cy="638975"/>
          </a:xfrm>
          <a:prstGeom prst="rect">
            <a:avLst/>
          </a:prstGeom>
          <a:solidFill>
            <a:srgbClr val="2A2A4A">
              <a:alpha val="50000"/>
            </a:srgbClr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0594" y="2385929"/>
            <a:ext cx="257175" cy="228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72075" y="2263787"/>
            <a:ext cx="331470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0BBE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Transparency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5172075" y="2451311"/>
            <a:ext cx="331470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participants can view the ledger, providing a single source of truth across the entire network.</a:t>
            </a:r>
            <a:endParaRPr lang="en-US" sz="750" dirty="0"/>
          </a:p>
        </p:txBody>
      </p:sp>
      <p:sp>
        <p:nvSpPr>
          <p:cNvPr id="18" name="Shape 13"/>
          <p:cNvSpPr/>
          <p:nvPr/>
        </p:nvSpPr>
        <p:spPr>
          <a:xfrm>
            <a:off x="571500" y="2902762"/>
            <a:ext cx="3957638" cy="638975"/>
          </a:xfrm>
          <a:prstGeom prst="rect">
            <a:avLst/>
          </a:prstGeom>
          <a:solidFill>
            <a:srgbClr val="2A2A4A">
              <a:alpha val="50000"/>
            </a:srgbClr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806" y="3110629"/>
            <a:ext cx="200025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28713" y="2988487"/>
            <a:ext cx="331470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0BBE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Immutability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8713" y="3176011"/>
            <a:ext cx="331470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Once a transaction is recorded and validated, it becomes a permanent part of the chain and cannot be changed.</a:t>
            </a:r>
            <a:endParaRPr lang="en-US" sz="750" dirty="0"/>
          </a:p>
        </p:txBody>
      </p:sp>
      <p:sp>
        <p:nvSpPr>
          <p:cNvPr id="22" name="Shape 16"/>
          <p:cNvSpPr/>
          <p:nvPr/>
        </p:nvSpPr>
        <p:spPr>
          <a:xfrm>
            <a:off x="4614863" y="2902762"/>
            <a:ext cx="3957638" cy="638975"/>
          </a:xfrm>
          <a:prstGeom prst="rect">
            <a:avLst/>
          </a:prstGeom>
          <a:solidFill>
            <a:srgbClr val="2A2A4A">
              <a:alpha val="50000"/>
            </a:srgbClr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6306" y="3110629"/>
            <a:ext cx="285750" cy="2286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72075" y="2988487"/>
            <a:ext cx="331470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0BBE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Decentralization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5172075" y="3176011"/>
            <a:ext cx="331470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Eliminates single points of failure by distributing control and data across multiple independent nodes.</a:t>
            </a:r>
            <a:endParaRPr lang="en-US" sz="750" dirty="0"/>
          </a:p>
        </p:txBody>
      </p:sp>
      <p:sp>
        <p:nvSpPr>
          <p:cNvPr id="26" name="Text 19"/>
          <p:cNvSpPr/>
          <p:nvPr/>
        </p:nvSpPr>
        <p:spPr>
          <a:xfrm>
            <a:off x="664369" y="3763194"/>
            <a:ext cx="78152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i="1" dirty="0">
                <a:solidFill>
                  <a:srgbClr val="4CAF5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Analogy:</a:t>
            </a:r>
            <a:r>
              <a:rPr lang="en-US" sz="850" i="1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Think of a shared, unchangeable </a:t>
            </a:r>
            <a:r>
              <a:rPr lang="en-US" sz="800" b="1" i="1" dirty="0">
                <a:solidFill>
                  <a:srgbClr val="4CAF5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Google Sheet</a:t>
            </a:r>
            <a:r>
              <a:rPr lang="en-US" sz="850" i="1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where every entry is cryptographically linked to the previous one, and everyone has a copy, ensuring no one can secretly alter past records.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Blockchain Architecture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877230"/>
            <a:ext cx="8572500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6B6B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Building Blocks of Trust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785938" y="1468375"/>
            <a:ext cx="1571625" cy="1000125"/>
          </a:xfrm>
          <a:prstGeom prst="rect">
            <a:avLst/>
          </a:prstGeom>
          <a:solidFill>
            <a:srgbClr val="2A2A4A"/>
          </a:solidFill>
          <a:ln w="18288">
            <a:solidFill>
              <a:srgbClr val="4CAF5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93094" y="1575532"/>
            <a:ext cx="1357313" cy="15180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Block #101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893094" y="1798774"/>
            <a:ext cx="1357313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Prev Hash: 000...abc
Timestamp: 12:00:01
Data: IDS Alert #301</a:t>
            </a:r>
            <a:endParaRPr lang="en-US" sz="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4719" y="1885392"/>
            <a:ext cx="214313" cy="17145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786188" y="1468375"/>
            <a:ext cx="1571625" cy="1000125"/>
          </a:xfrm>
          <a:prstGeom prst="rect">
            <a:avLst/>
          </a:prstGeom>
          <a:solidFill>
            <a:srgbClr val="2A2A4A"/>
          </a:solidFill>
          <a:ln w="18288">
            <a:solidFill>
              <a:srgbClr val="FF6B6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893344" y="1575532"/>
            <a:ext cx="1357313" cy="15180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FF6B6B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Block #102</a:t>
            </a:r>
            <a:endParaRPr lang="en-US" sz="600" dirty="0"/>
          </a:p>
        </p:txBody>
      </p:sp>
      <p:sp>
        <p:nvSpPr>
          <p:cNvPr id="11" name="Text 7"/>
          <p:cNvSpPr/>
          <p:nvPr/>
        </p:nvSpPr>
        <p:spPr>
          <a:xfrm>
            <a:off x="3893344" y="1798774"/>
            <a:ext cx="1357313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Prev Hash: 8f2...9e1
Timestamp: 12:05:44
Data: IDS Alert #302</a:t>
            </a:r>
            <a:endParaRPr lang="en-US" sz="6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4969" y="1885392"/>
            <a:ext cx="214313" cy="17145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786438" y="1468375"/>
            <a:ext cx="1571625" cy="1000125"/>
          </a:xfrm>
          <a:prstGeom prst="rect">
            <a:avLst/>
          </a:prstGeom>
          <a:solidFill>
            <a:srgbClr val="2A2A4A"/>
          </a:solidFill>
          <a:ln w="18288">
            <a:solidFill>
              <a:srgbClr val="4CAF5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93594" y="1575532"/>
            <a:ext cx="1357313" cy="15180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Block #103</a:t>
            </a:r>
            <a:endParaRPr lang="en-US" sz="600" dirty="0"/>
          </a:p>
        </p:txBody>
      </p:sp>
      <p:sp>
        <p:nvSpPr>
          <p:cNvPr id="15" name="Text 10"/>
          <p:cNvSpPr/>
          <p:nvPr/>
        </p:nvSpPr>
        <p:spPr>
          <a:xfrm>
            <a:off x="5893594" y="1798774"/>
            <a:ext cx="1357313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Prev Hash: 4c5...d2f
Timestamp: 12:10:12
Data: IDS Alert #303</a:t>
            </a:r>
            <a:endParaRPr lang="en-US" sz="600" dirty="0"/>
          </a:p>
        </p:txBody>
      </p:sp>
      <p:sp>
        <p:nvSpPr>
          <p:cNvPr id="16" name="Shape 11"/>
          <p:cNvSpPr/>
          <p:nvPr/>
        </p:nvSpPr>
        <p:spPr>
          <a:xfrm>
            <a:off x="571500" y="2825688"/>
            <a:ext cx="357188" cy="357188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69" y="2918557"/>
            <a:ext cx="171450" cy="1714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71563" y="2825688"/>
            <a:ext cx="3393281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0BBE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Blocks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1071563" y="3029285"/>
            <a:ext cx="339328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containers holding a timestamp, a reference to the previous block (hash), and a batch of validated transactions.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4679156" y="2825688"/>
            <a:ext cx="357188" cy="357188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2741" y="2918557"/>
            <a:ext cx="150019" cy="1714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79219" y="2825688"/>
            <a:ext cx="3393281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0BBE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Hash Functions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179219" y="3029285"/>
            <a:ext cx="339328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Cryptographic algorithms (like SHA-256) that create a unique digital fingerprint for each block, ensuring data integrity.</a:t>
            </a:r>
            <a:endParaRPr lang="en-US" sz="800" dirty="0"/>
          </a:p>
        </p:txBody>
      </p:sp>
      <p:sp>
        <p:nvSpPr>
          <p:cNvPr id="24" name="Shape 17"/>
          <p:cNvSpPr/>
          <p:nvPr/>
        </p:nvSpPr>
        <p:spPr>
          <a:xfrm>
            <a:off x="571500" y="3948875"/>
            <a:ext cx="357188" cy="357188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69" y="4041744"/>
            <a:ext cx="171450" cy="17145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071563" y="3948875"/>
            <a:ext cx="3393281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0BBE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1071563" y="4152472"/>
            <a:ext cx="339328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fundamental data records stored in the ledger, such as security alerts, threat levels, or network metadata.</a:t>
            </a:r>
            <a:endParaRPr lang="en-US" sz="800" dirty="0"/>
          </a:p>
        </p:txBody>
      </p:sp>
      <p:sp>
        <p:nvSpPr>
          <p:cNvPr id="28" name="Shape 20"/>
          <p:cNvSpPr/>
          <p:nvPr/>
        </p:nvSpPr>
        <p:spPr>
          <a:xfrm>
            <a:off x="4679156" y="3948875"/>
            <a:ext cx="357188" cy="357188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0594" y="4041744"/>
            <a:ext cx="214313" cy="17145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179219" y="3948875"/>
            <a:ext cx="3393281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0BBE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Consensus Mechanism</a:t>
            </a:r>
            <a:endParaRPr lang="en-US" sz="1000" dirty="0"/>
          </a:p>
        </p:txBody>
      </p:sp>
      <p:sp>
        <p:nvSpPr>
          <p:cNvPr id="31" name="Text 22"/>
          <p:cNvSpPr/>
          <p:nvPr/>
        </p:nvSpPr>
        <p:spPr>
          <a:xfrm>
            <a:off x="5179219" y="4152472"/>
            <a:ext cx="339328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protocol (e.g., Proof of Work) that ensures all nodes in the network agree on the validity of new blocks.</a:t>
            </a:r>
            <a:endParaRPr lang="en-US" sz="800" dirty="0"/>
          </a:p>
        </p:txBody>
      </p:sp>
      <p:sp>
        <p:nvSpPr>
          <p:cNvPr id="32" name="Text 23"/>
          <p:cNvSpPr/>
          <p:nvPr/>
        </p:nvSpPr>
        <p:spPr>
          <a:xfrm>
            <a:off x="7529513" y="3962995"/>
            <a:ext cx="1185863" cy="8947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2A2A4A">
                    <a:alpha val="50000"/>
                  </a:srgbClr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03</a:t>
            </a:r>
            <a:endParaRPr lang="en-US" sz="5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Why Blockchain for IDS?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877230"/>
            <a:ext cx="8572500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6B6B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The Immutable Advantage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71500" y="1254063"/>
            <a:ext cx="4629150" cy="737927"/>
          </a:xfrm>
          <a:prstGeom prst="rect">
            <a:avLst/>
          </a:prstGeom>
          <a:solidFill>
            <a:srgbClr val="2A2A4A">
              <a:alpha val="5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254063"/>
            <a:ext cx="28575" cy="737927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56" y="1396938"/>
            <a:ext cx="192881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14413" y="1361219"/>
            <a:ext cx="4079081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0BBE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Tamper-Proof Logs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1014413" y="1564816"/>
            <a:ext cx="407908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Security alerts are immutably recorded, preventing attackers from deleting evidence of their intrusion.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571500" y="2134865"/>
            <a:ext cx="4629150" cy="737927"/>
          </a:xfrm>
          <a:prstGeom prst="rect">
            <a:avLst/>
          </a:prstGeom>
          <a:solidFill>
            <a:srgbClr val="2A2A4A">
              <a:alpha val="50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571500" y="2134865"/>
            <a:ext cx="28575" cy="737927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656" y="2277740"/>
            <a:ext cx="150019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71550" y="2242021"/>
            <a:ext cx="4121944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0BBE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Secure Alert Sharing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971550" y="2445618"/>
            <a:ext cx="412194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Enables decentralized sharing of threat intelligence among nodes, enhancing collaborative defense.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571500" y="3015667"/>
            <a:ext cx="4629150" cy="737927"/>
          </a:xfrm>
          <a:prstGeom prst="rect">
            <a:avLst/>
          </a:prstGeom>
          <a:solidFill>
            <a:srgbClr val="2A2A4A">
              <a:alpha val="50000"/>
            </a:srgbClr>
          </a:solidFill>
          <a:ln/>
        </p:spPr>
      </p:sp>
      <p:sp>
        <p:nvSpPr>
          <p:cNvPr id="16" name="Shape 11"/>
          <p:cNvSpPr/>
          <p:nvPr/>
        </p:nvSpPr>
        <p:spPr>
          <a:xfrm>
            <a:off x="571500" y="3015667"/>
            <a:ext cx="28575" cy="737927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656" y="3158542"/>
            <a:ext cx="214313" cy="1714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35844" y="3122823"/>
            <a:ext cx="4057650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0BBE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Decentralized Trust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1035844" y="3326420"/>
            <a:ext cx="40576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Eliminates single points of failure by distributing log storage and verification across the network.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571500" y="3896469"/>
            <a:ext cx="4629150" cy="737927"/>
          </a:xfrm>
          <a:prstGeom prst="rect">
            <a:avLst/>
          </a:prstGeom>
          <a:solidFill>
            <a:srgbClr val="2A2A4A">
              <a:alpha val="50000"/>
            </a:srgbClr>
          </a:solidFill>
          <a:ln/>
        </p:spPr>
      </p:sp>
      <p:sp>
        <p:nvSpPr>
          <p:cNvPr id="21" name="Shape 15"/>
          <p:cNvSpPr/>
          <p:nvPr/>
        </p:nvSpPr>
        <p:spPr>
          <a:xfrm>
            <a:off x="571500" y="3896469"/>
            <a:ext cx="28575" cy="737927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656" y="4039344"/>
            <a:ext cx="171450" cy="17145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92981" y="4003625"/>
            <a:ext cx="4100513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0BBE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Improved Data Integrity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992981" y="4207222"/>
            <a:ext cx="410051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Cryptographic linking ensures the authenticity and integrity of all recorded security events.</a:t>
            </a:r>
            <a:endParaRPr lang="en-US" sz="850" dirty="0"/>
          </a:p>
        </p:txBody>
      </p:sp>
      <p:sp>
        <p:nvSpPr>
          <p:cNvPr id="25" name="Shape 18"/>
          <p:cNvSpPr/>
          <p:nvPr/>
        </p:nvSpPr>
        <p:spPr>
          <a:xfrm>
            <a:off x="5486400" y="1254063"/>
            <a:ext cx="3086100" cy="2073473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6" name="Text 19"/>
          <p:cNvSpPr/>
          <p:nvPr/>
        </p:nvSpPr>
        <p:spPr>
          <a:xfrm>
            <a:off x="5700713" y="1468375"/>
            <a:ext cx="2657475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FALSE POSITIVE REDUCTION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5700713" y="1743410"/>
            <a:ext cx="2657475" cy="573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1A1A2E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15%</a:t>
            </a:r>
            <a:endParaRPr lang="en-US" sz="3300" dirty="0"/>
          </a:p>
        </p:txBody>
      </p:sp>
      <p:sp>
        <p:nvSpPr>
          <p:cNvPr id="28" name="Text 21"/>
          <p:cNvSpPr/>
          <p:nvPr/>
        </p:nvSpPr>
        <p:spPr>
          <a:xfrm>
            <a:off x="5700713" y="2423852"/>
            <a:ext cx="2657475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Blockchain-based IDS can significantly reduce false alarms through reliable intelligence sharing [4].</a:t>
            </a:r>
            <a:endParaRPr lang="en-US" sz="850" dirty="0"/>
          </a:p>
        </p:txBody>
      </p:sp>
      <p:sp>
        <p:nvSpPr>
          <p:cNvPr id="29" name="Text 22"/>
          <p:cNvSpPr/>
          <p:nvPr/>
        </p:nvSpPr>
        <p:spPr>
          <a:xfrm>
            <a:off x="5700713" y="2997138"/>
            <a:ext cx="2657475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1A1A2E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IoT Journal Research</a:t>
            </a:r>
            <a:endParaRPr lang="en-US" sz="600" dirty="0"/>
          </a:p>
        </p:txBody>
      </p:sp>
      <p:sp>
        <p:nvSpPr>
          <p:cNvPr id="30" name="Shape 23"/>
          <p:cNvSpPr/>
          <p:nvPr/>
        </p:nvSpPr>
        <p:spPr>
          <a:xfrm>
            <a:off x="5486400" y="3541849"/>
            <a:ext cx="3086100" cy="1315901"/>
          </a:xfrm>
          <a:prstGeom prst="rect">
            <a:avLst/>
          </a:prstGeom>
          <a:solidFill>
            <a:srgbClr val="2A2A4A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2263" y="3784569"/>
            <a:ext cx="714375" cy="5715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89179" y="4463225"/>
            <a:ext cx="1480542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957DAD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Immutable Security Chain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Blockchain Integrated IDS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877230"/>
            <a:ext cx="8572500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6B6B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The Hybrid Defense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071563" y="1838651"/>
            <a:ext cx="714375" cy="714375"/>
          </a:xfrm>
          <a:prstGeom prst="rect">
            <a:avLst/>
          </a:prstGeom>
          <a:solidFill>
            <a:srgbClr val="2A2A4A"/>
          </a:solidFill>
          <a:ln w="18288">
            <a:solidFill>
              <a:srgbClr val="4CAF50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0156" y="2052963"/>
            <a:ext cx="357188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71550" y="2695901"/>
            <a:ext cx="91440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71500" y="2963791"/>
            <a:ext cx="171450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Sensors continuously observe network traffic for potential threats.</a:t>
            </a:r>
            <a:endParaRPr lang="en-US" sz="750" dirty="0"/>
          </a:p>
        </p:txBody>
      </p:sp>
      <p:sp>
        <p:nvSpPr>
          <p:cNvPr id="9" name="Shape 5"/>
          <p:cNvSpPr/>
          <p:nvPr/>
        </p:nvSpPr>
        <p:spPr>
          <a:xfrm>
            <a:off x="3167053" y="1768636"/>
            <a:ext cx="714375" cy="714375"/>
          </a:xfrm>
          <a:prstGeom prst="rect">
            <a:avLst/>
          </a:prstGeom>
          <a:solidFill>
            <a:srgbClr val="2A2A4A"/>
          </a:solidFill>
          <a:ln w="18288">
            <a:solidFill>
              <a:srgbClr val="4CAF50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1366" y="1982949"/>
            <a:ext cx="285750" cy="285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977744" y="2625886"/>
            <a:ext cx="109299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DL DETECTION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2666991" y="2893777"/>
            <a:ext cx="1714500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Deep Learning models analyze traffic to identify anomalies and attacks.</a:t>
            </a:r>
            <a:endParaRPr lang="en-US" sz="750" dirty="0"/>
          </a:p>
        </p:txBody>
      </p:sp>
      <p:sp>
        <p:nvSpPr>
          <p:cNvPr id="13" name="Shape 8"/>
          <p:cNvSpPr/>
          <p:nvPr/>
        </p:nvSpPr>
        <p:spPr>
          <a:xfrm>
            <a:off x="5262544" y="1838651"/>
            <a:ext cx="714375" cy="714375"/>
          </a:xfrm>
          <a:prstGeom prst="rect">
            <a:avLst/>
          </a:prstGeom>
          <a:solidFill>
            <a:srgbClr val="2A2A4A"/>
          </a:solidFill>
          <a:ln w="18288">
            <a:solidFill>
              <a:srgbClr val="FF6B6B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1138" y="2052963"/>
            <a:ext cx="357188" cy="2857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958935" y="2695901"/>
            <a:ext cx="1321594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SECURE LOGGING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4762481" y="2963791"/>
            <a:ext cx="171450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Detected alerts are hashed and immutably stored on the blockchain.</a:t>
            </a:r>
            <a:endParaRPr lang="en-US" sz="750" dirty="0"/>
          </a:p>
        </p:txBody>
      </p:sp>
      <p:sp>
        <p:nvSpPr>
          <p:cNvPr id="17" name="Shape 11"/>
          <p:cNvSpPr/>
          <p:nvPr/>
        </p:nvSpPr>
        <p:spPr>
          <a:xfrm>
            <a:off x="7358035" y="1838651"/>
            <a:ext cx="714375" cy="714375"/>
          </a:xfrm>
          <a:prstGeom prst="rect">
            <a:avLst/>
          </a:prstGeom>
          <a:solidFill>
            <a:srgbClr val="2A2A4A"/>
          </a:solidFill>
          <a:ln w="18288">
            <a:solidFill>
              <a:srgbClr val="FF6B6B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2347" y="2052963"/>
            <a:ext cx="285750" cy="28575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199979" y="2695901"/>
            <a:ext cx="103048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VERIFICATION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6857972" y="2963791"/>
            <a:ext cx="171450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Distributed nodes verify the integrity of the security logs.</a:t>
            </a:r>
            <a:endParaRPr lang="en-US" sz="750" dirty="0"/>
          </a:p>
        </p:txBody>
      </p:sp>
      <p:sp>
        <p:nvSpPr>
          <p:cNvPr id="21" name="Shape 14"/>
          <p:cNvSpPr/>
          <p:nvPr/>
        </p:nvSpPr>
        <p:spPr>
          <a:xfrm>
            <a:off x="571500" y="3685505"/>
            <a:ext cx="8001000" cy="1172245"/>
          </a:xfrm>
          <a:prstGeom prst="rect">
            <a:avLst/>
          </a:prstGeom>
          <a:solidFill>
            <a:srgbClr val="2A2A4A"/>
          </a:solidFill>
          <a:ln/>
        </p:spPr>
      </p:sp>
      <p:sp>
        <p:nvSpPr>
          <p:cNvPr id="22" name="Shape 15"/>
          <p:cNvSpPr/>
          <p:nvPr/>
        </p:nvSpPr>
        <p:spPr>
          <a:xfrm>
            <a:off x="571500" y="3685505"/>
            <a:ext cx="8001000" cy="28575"/>
          </a:xfrm>
          <a:prstGeom prst="rect">
            <a:avLst/>
          </a:prstGeom>
          <a:solidFill>
            <a:srgbClr val="E0BBE4"/>
          </a:solidFill>
          <a:ln/>
        </p:spPr>
      </p:sp>
      <p:sp>
        <p:nvSpPr>
          <p:cNvPr id="23" name="Text 16"/>
          <p:cNvSpPr/>
          <p:nvPr/>
        </p:nvSpPr>
        <p:spPr>
          <a:xfrm>
            <a:off x="785813" y="3928393"/>
            <a:ext cx="7572375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THE CORE INNOVATION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785813" y="4232002"/>
            <a:ext cx="75723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9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integrated approach combines the </a:t>
            </a:r>
            <a:r>
              <a:rPr lang="en-US" sz="900" b="1" dirty="0">
                <a:solidFill>
                  <a:srgbClr val="FF6B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predictive power</a:t>
            </a:r>
            <a:r>
              <a:rPr lang="en-US" sz="9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 Deep Learning with the </a:t>
            </a:r>
            <a:r>
              <a:rPr lang="en-US" sz="900" b="1" dirty="0">
                <a:solidFill>
                  <a:srgbClr val="FF6B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immutable security</a:t>
            </a:r>
            <a:r>
              <a:rPr lang="en-US" sz="9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 Blockchain, creating a robust, intelligent, and tamper-proof Intrusion Detection System.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Applications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877230"/>
            <a:ext cx="8572500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6B6B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Securing Our Digital World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71500" y="1396938"/>
            <a:ext cx="2524116" cy="1623250"/>
          </a:xfrm>
          <a:prstGeom prst="rect">
            <a:avLst/>
          </a:prstGeom>
          <a:solidFill>
            <a:srgbClr val="2A2A4A">
              <a:alpha val="4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396938"/>
            <a:ext cx="2524116" cy="28575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0669" y="1646969"/>
            <a:ext cx="285750" cy="285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1873" y="2111313"/>
            <a:ext cx="1023342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IOT SECURITY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50094" y="2343485"/>
            <a:ext cx="216692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Protecting vast networks of interconnected devices from diverse and distributed attacks.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3309928" y="1396938"/>
            <a:ext cx="2524116" cy="1623250"/>
          </a:xfrm>
          <a:prstGeom prst="rect">
            <a:avLst/>
          </a:prstGeom>
          <a:solidFill>
            <a:srgbClr val="2A2A4A">
              <a:alpha val="40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3309928" y="1396938"/>
            <a:ext cx="2524116" cy="28575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2" name="Text 8"/>
          <p:cNvSpPr/>
          <p:nvPr/>
        </p:nvSpPr>
        <p:spPr>
          <a:xfrm>
            <a:off x="3912961" y="2111313"/>
            <a:ext cx="1318022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CLOUD SECURITY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488522" y="2343485"/>
            <a:ext cx="216692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Enhancing the security of cloud infrastructure and services against sophisticated threats.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6048356" y="1396938"/>
            <a:ext cx="2524144" cy="1623250"/>
          </a:xfrm>
          <a:prstGeom prst="rect">
            <a:avLst/>
          </a:prstGeom>
          <a:solidFill>
            <a:srgbClr val="2A2A4A">
              <a:alpha val="40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6048356" y="1396938"/>
            <a:ext cx="2524144" cy="28575"/>
          </a:xfrm>
          <a:prstGeom prst="rect">
            <a:avLst/>
          </a:prstGeom>
          <a:solidFill>
            <a:srgbClr val="E0BBE4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1834" y="1646969"/>
            <a:ext cx="357188" cy="2857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91613" y="2111313"/>
            <a:ext cx="103763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SMART CITIES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6226950" y="2343485"/>
            <a:ext cx="216695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Safeguarding critical urban infrastructure, from traffic management to public utilities.</a:t>
            </a:r>
            <a:endParaRPr lang="en-US" sz="750" dirty="0"/>
          </a:p>
        </p:txBody>
      </p:sp>
      <p:sp>
        <p:nvSpPr>
          <p:cNvPr id="19" name="Shape 14"/>
          <p:cNvSpPr/>
          <p:nvPr/>
        </p:nvSpPr>
        <p:spPr>
          <a:xfrm>
            <a:off x="571500" y="3234500"/>
            <a:ext cx="2524116" cy="1623250"/>
          </a:xfrm>
          <a:prstGeom prst="rect">
            <a:avLst/>
          </a:prstGeom>
          <a:solidFill>
            <a:srgbClr val="2A2A4A">
              <a:alpha val="40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571500" y="3234500"/>
            <a:ext cx="2524116" cy="28575"/>
          </a:xfrm>
          <a:prstGeom prst="rect">
            <a:avLst/>
          </a:prstGeom>
          <a:solidFill>
            <a:srgbClr val="E0BBE4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0669" y="3484531"/>
            <a:ext cx="285750" cy="2857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16490" y="3948875"/>
            <a:ext cx="1434108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BANKING SYSTEMS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750094" y="4181047"/>
            <a:ext cx="2166928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Detecting financial fraud and securing sensitive transaction data with immutable logs.</a:t>
            </a:r>
            <a:endParaRPr lang="en-US" sz="750" dirty="0"/>
          </a:p>
        </p:txBody>
      </p:sp>
      <p:sp>
        <p:nvSpPr>
          <p:cNvPr id="24" name="Shape 18"/>
          <p:cNvSpPr/>
          <p:nvPr/>
        </p:nvSpPr>
        <p:spPr>
          <a:xfrm>
            <a:off x="3309928" y="3234500"/>
            <a:ext cx="2524116" cy="1623250"/>
          </a:xfrm>
          <a:prstGeom prst="rect">
            <a:avLst/>
          </a:prstGeom>
          <a:solidFill>
            <a:srgbClr val="2A2A4A">
              <a:alpha val="40000"/>
            </a:srgbClr>
          </a:solidFill>
          <a:ln/>
        </p:spPr>
      </p:sp>
      <p:sp>
        <p:nvSpPr>
          <p:cNvPr id="25" name="Shape 19"/>
          <p:cNvSpPr/>
          <p:nvPr/>
        </p:nvSpPr>
        <p:spPr>
          <a:xfrm>
            <a:off x="3309928" y="3234500"/>
            <a:ext cx="2524116" cy="28575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1238" y="3484531"/>
            <a:ext cx="321469" cy="28575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53157" y="3948875"/>
            <a:ext cx="103763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HEALTHCARE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3488522" y="4181047"/>
            <a:ext cx="216692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Protecting patient data and medical devices from cyberattacks and unauthorized access.</a:t>
            </a:r>
            <a:endParaRPr lang="en-US" sz="750" dirty="0"/>
          </a:p>
        </p:txBody>
      </p:sp>
      <p:sp>
        <p:nvSpPr>
          <p:cNvPr id="29" name="Shape 22"/>
          <p:cNvSpPr/>
          <p:nvPr/>
        </p:nvSpPr>
        <p:spPr>
          <a:xfrm>
            <a:off x="6048356" y="3234500"/>
            <a:ext cx="2524144" cy="1623250"/>
          </a:xfrm>
          <a:prstGeom prst="rect">
            <a:avLst/>
          </a:prstGeom>
          <a:solidFill>
            <a:srgbClr val="2A2A4A">
              <a:alpha val="40000"/>
            </a:srgbClr>
          </a:solidFill>
          <a:ln/>
        </p:spPr>
      </p:sp>
      <p:sp>
        <p:nvSpPr>
          <p:cNvPr id="30" name="Shape 23"/>
          <p:cNvSpPr/>
          <p:nvPr/>
        </p:nvSpPr>
        <p:spPr>
          <a:xfrm>
            <a:off x="6048356" y="3234500"/>
            <a:ext cx="2524144" cy="28575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1" name="Text 24"/>
          <p:cNvSpPr/>
          <p:nvPr/>
        </p:nvSpPr>
        <p:spPr>
          <a:xfrm>
            <a:off x="6965742" y="3948875"/>
            <a:ext cx="689372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MILITARY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6226950" y="4181047"/>
            <a:ext cx="216695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Ensuring the integrity and confidentiality of critical defense and tactical communications.</a:t>
            </a:r>
            <a:endParaRPr lang="en-US" sz="750" dirty="0"/>
          </a:p>
        </p:txBody>
      </p:sp>
      <p:sp>
        <p:nvSpPr>
          <p:cNvPr id="33" name="Text 26"/>
          <p:cNvSpPr/>
          <p:nvPr/>
        </p:nvSpPr>
        <p:spPr>
          <a:xfrm>
            <a:off x="7597378" y="3962995"/>
            <a:ext cx="1117997" cy="8947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2A2A4A">
                    <a:alpha val="50000"/>
                  </a:srgbClr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04</a:t>
            </a:r>
            <a:endParaRPr lang="en-US" sz="5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Future Scope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877230"/>
            <a:ext cx="8572500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6B6B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The Horizon of Cybersecurity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357313" y="1682688"/>
            <a:ext cx="714375" cy="714375"/>
          </a:xfrm>
          <a:prstGeom prst="rect">
            <a:avLst/>
          </a:prstGeom>
          <a:solidFill>
            <a:srgbClr val="2A2A4A"/>
          </a:solidFill>
          <a:ln w="18288">
            <a:solidFill>
              <a:srgbClr val="4CAF50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5906" y="1897000"/>
            <a:ext cx="357188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2595" y="2575657"/>
            <a:ext cx="1903809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FEDERATED LEARNING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71500" y="2861407"/>
            <a:ext cx="2286000" cy="514350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80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AI models across decentralized devices without ever sharing raw data, ensuring maximum privacy.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4214813" y="1682688"/>
            <a:ext cx="714375" cy="714375"/>
          </a:xfrm>
          <a:prstGeom prst="rect">
            <a:avLst/>
          </a:prstGeom>
          <a:solidFill>
            <a:srgbClr val="2A2A4A"/>
          </a:solidFill>
          <a:ln w="18288">
            <a:solidFill>
              <a:srgbClr val="FF6B6B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9125" y="1897000"/>
            <a:ext cx="285750" cy="285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691533" y="2575657"/>
            <a:ext cx="1760934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EXPLAINABLE AI (XAI)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3429000" y="2861407"/>
            <a:ext cx="2286000" cy="514350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80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Developing "glass-box" models that provide clear reasoning for their detection decisions to human analysts.</a:t>
            </a:r>
            <a:endParaRPr lang="en-US" sz="800" dirty="0"/>
          </a:p>
        </p:txBody>
      </p:sp>
      <p:sp>
        <p:nvSpPr>
          <p:cNvPr id="13" name="Shape 8"/>
          <p:cNvSpPr/>
          <p:nvPr/>
        </p:nvSpPr>
        <p:spPr>
          <a:xfrm>
            <a:off x="7072313" y="1682688"/>
            <a:ext cx="714375" cy="714375"/>
          </a:xfrm>
          <a:prstGeom prst="rect">
            <a:avLst/>
          </a:prstGeom>
          <a:solidFill>
            <a:srgbClr val="2A2A4A"/>
          </a:solidFill>
          <a:ln w="18288">
            <a:solidFill>
              <a:srgbClr val="E0BBE4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6625" y="1897000"/>
            <a:ext cx="285750" cy="2857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52592" y="2575657"/>
            <a:ext cx="1953816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QUANTUM RESISTANCE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6286500" y="2861407"/>
            <a:ext cx="2286000" cy="514350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80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Integrating post-quantum cryptographic algorithms to secure blockchain ledgers against future quantum threats.</a:t>
            </a:r>
            <a:endParaRPr lang="en-US" sz="800" dirty="0"/>
          </a:p>
        </p:txBody>
      </p:sp>
      <p:sp>
        <p:nvSpPr>
          <p:cNvPr id="17" name="Shape 11"/>
          <p:cNvSpPr/>
          <p:nvPr/>
        </p:nvSpPr>
        <p:spPr>
          <a:xfrm>
            <a:off x="571500" y="4093369"/>
            <a:ext cx="8001000" cy="764381"/>
          </a:xfrm>
          <a:prstGeom prst="rect">
            <a:avLst/>
          </a:prstGeom>
          <a:solidFill>
            <a:srgbClr val="2A2A4A">
              <a:alpha val="60000"/>
            </a:srgbClr>
          </a:solidFill>
          <a:ln/>
        </p:spPr>
      </p:sp>
      <p:sp>
        <p:nvSpPr>
          <p:cNvPr id="18" name="Shape 12"/>
          <p:cNvSpPr/>
          <p:nvPr/>
        </p:nvSpPr>
        <p:spPr>
          <a:xfrm>
            <a:off x="571500" y="4093369"/>
            <a:ext cx="35719" cy="764381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9" name="Text 13"/>
          <p:cNvSpPr/>
          <p:nvPr/>
        </p:nvSpPr>
        <p:spPr>
          <a:xfrm>
            <a:off x="785813" y="4307681"/>
            <a:ext cx="7572375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D4D4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"The future of cybersecurity lies in the seamless integration of self-learning intelligence, decentralized trust, and human-centric transparency."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7525941" y="3962995"/>
            <a:ext cx="1189434" cy="8947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2A2A4A">
                    <a:alpha val="50000"/>
                  </a:srgbClr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05</a:t>
            </a:r>
            <a:endParaRPr lang="en-US" sz="5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11041" y="543120"/>
            <a:ext cx="3921919" cy="4243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275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Conclusion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2611041" y="1074604"/>
            <a:ext cx="3921919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FF6B6B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The Future of Intelligent Cybersecurity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571500" y="1771120"/>
            <a:ext cx="2476509" cy="2286307"/>
          </a:xfrm>
          <a:prstGeom prst="rect">
            <a:avLst/>
          </a:prstGeom>
          <a:solidFill>
            <a:srgbClr val="2A2A4A">
              <a:alpha val="6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771120"/>
            <a:ext cx="2476509" cy="35719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1147" y="2126521"/>
            <a:ext cx="357188" cy="3571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5813" y="2687306"/>
            <a:ext cx="2047884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INTELLIGENT DETECTION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85813" y="3187368"/>
            <a:ext cx="2047884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8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Deep Learning provides the adaptive intelligence needed to identify complex and evolving cyber threats.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3333759" y="1771120"/>
            <a:ext cx="2476509" cy="2286307"/>
          </a:xfrm>
          <a:prstGeom prst="rect">
            <a:avLst/>
          </a:prstGeom>
          <a:solidFill>
            <a:srgbClr val="2A2A4A">
              <a:alpha val="60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3333759" y="1771120"/>
            <a:ext cx="2476509" cy="35719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8758" y="2133330"/>
            <a:ext cx="446484" cy="3571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48072" y="2694115"/>
            <a:ext cx="2047884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IMMUTABLE SECURITY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3548072" y="3194177"/>
            <a:ext cx="2047884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8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Blockchain ensures the integrity and transparency of security logs, creating a tamper-proof audit trail.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6096019" y="1777929"/>
            <a:ext cx="2476509" cy="2272717"/>
          </a:xfrm>
          <a:prstGeom prst="rect">
            <a:avLst/>
          </a:prstGeom>
          <a:solidFill>
            <a:srgbClr val="2A2A4A">
              <a:alpha val="60000"/>
            </a:srgbClr>
          </a:solidFill>
          <a:ln/>
        </p:spPr>
      </p:sp>
      <p:sp>
        <p:nvSpPr>
          <p:cNvPr id="16" name="Shape 11"/>
          <p:cNvSpPr/>
          <p:nvPr/>
        </p:nvSpPr>
        <p:spPr>
          <a:xfrm>
            <a:off x="6096019" y="1777929"/>
            <a:ext cx="2476509" cy="35719"/>
          </a:xfrm>
          <a:prstGeom prst="rect">
            <a:avLst/>
          </a:prstGeom>
          <a:solidFill>
            <a:srgbClr val="E0BBE4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5666" y="2144381"/>
            <a:ext cx="357188" cy="3571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92190" y="2705165"/>
            <a:ext cx="1684139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ROBUST DEFENSE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6310331" y="3008774"/>
            <a:ext cx="2047884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850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hybrid integration of AI and Blockchain creates a resilient, decentralized, and intelligent security framework.</a:t>
            </a:r>
            <a:endParaRPr lang="en-US" sz="850" dirty="0"/>
          </a:p>
        </p:txBody>
      </p:sp>
      <p:sp>
        <p:nvSpPr>
          <p:cNvPr id="20" name="Text 14"/>
          <p:cNvSpPr/>
          <p:nvPr/>
        </p:nvSpPr>
        <p:spPr>
          <a:xfrm>
            <a:off x="0" y="4468192"/>
            <a:ext cx="9144000" cy="400050"/>
          </a:xfrm>
          <a:prstGeom prst="rect">
            <a:avLst/>
          </a:prstGeom>
          <a:noFill/>
          <a:ln/>
        </p:spPr>
        <p:txBody>
          <a:bodyPr wrap="square" lIns="680339" tIns="0" rIns="680339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4CAF5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"The synergy of Artificial Intelligence and Blockchain Technology is the cornerstone of next-generation cybersecurity."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E0BBE4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References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877230"/>
            <a:ext cx="8572500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6B6B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Sources &amp; Further Reading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71500" y="1396938"/>
            <a:ext cx="214313" cy="688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4CAF50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[1]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92969" y="1396938"/>
            <a:ext cx="3536156" cy="688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D4D4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IBM Security. (2023). </a:t>
            </a:r>
            <a:r>
              <a:rPr lang="en-US" sz="850" i="1" dirty="0">
                <a:solidFill>
                  <a:srgbClr val="D4D4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 of a Data Breach Report 2023</a:t>
            </a:r>
            <a:r>
              <a:rPr lang="en-US" sz="850" dirty="0">
                <a:solidFill>
                  <a:srgbClr val="D4D4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IBM Corporation. Available at: https://www.ibm.com/reports/data-breach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714875" y="1396938"/>
            <a:ext cx="214313" cy="688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4CAF50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[2]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36344" y="1396938"/>
            <a:ext cx="3536156" cy="688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D4D4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Ponemon Institute. (2022). </a:t>
            </a:r>
            <a:r>
              <a:rPr lang="en-US" sz="850" i="1" dirty="0">
                <a:solidFill>
                  <a:srgbClr val="D4D4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Cost of False Positives in Cybersecurity</a:t>
            </a:r>
            <a:r>
              <a:rPr lang="en-US" sz="850" dirty="0">
                <a:solidFill>
                  <a:srgbClr val="D4D4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Research Report on Security Operations Center Efficiency.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71500" y="2370972"/>
            <a:ext cx="214313" cy="50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4CAF50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[3]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92969" y="2370972"/>
            <a:ext cx="3536156" cy="50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D4D4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IEEE Access. (2021). </a:t>
            </a:r>
            <a:r>
              <a:rPr lang="en-US" sz="850" i="1" dirty="0">
                <a:solidFill>
                  <a:srgbClr val="D4D4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Deep Learning for Intrusion Detection in Networks: A Comprehensive Review</a:t>
            </a:r>
            <a:r>
              <a:rPr lang="en-US" sz="850" dirty="0">
                <a:solidFill>
                  <a:srgbClr val="D4D4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IEEE Xplore Digital Library.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714875" y="2370972"/>
            <a:ext cx="214313" cy="50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4CAF50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[4]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036344" y="2370972"/>
            <a:ext cx="3536156" cy="50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D4D4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IEEE Internet of Things Journal. (2022). </a:t>
            </a:r>
            <a:r>
              <a:rPr lang="en-US" sz="850" i="1" dirty="0">
                <a:solidFill>
                  <a:srgbClr val="D4D4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Blockchain-based Intrusion Detection Systems for IoT: Architecture and Challenges</a:t>
            </a:r>
            <a:r>
              <a:rPr lang="en-US" sz="850" dirty="0">
                <a:solidFill>
                  <a:srgbClr val="D4D4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71500" y="3162170"/>
            <a:ext cx="214313" cy="688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4CAF50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[5]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92969" y="3162170"/>
            <a:ext cx="3536156" cy="688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D4D4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NIST. (2020). </a:t>
            </a:r>
            <a:r>
              <a:rPr lang="en-US" sz="850" i="1" dirty="0">
                <a:solidFill>
                  <a:srgbClr val="D4D4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Special Publication 800-94: Guide to Intrusion Detection and Prevention Systems (IDPS)</a:t>
            </a:r>
            <a:r>
              <a:rPr lang="en-US" sz="850" dirty="0">
                <a:solidFill>
                  <a:srgbClr val="D4D4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National Institute of Standards and Technology.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714875" y="3162170"/>
            <a:ext cx="214313" cy="688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4CAF50"/>
                </a:solidFill>
                <a:latin typeface="Orbitron Bold" pitchFamily="34" charset="0"/>
                <a:ea typeface="Orbitron Bold" pitchFamily="34" charset="-122"/>
                <a:cs typeface="Orbitron Bold" pitchFamily="34" charset="-120"/>
              </a:rPr>
              <a:t>[6]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036344" y="3162170"/>
            <a:ext cx="3536156" cy="688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D4D4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S. Nakamoto. (2008). </a:t>
            </a:r>
            <a:r>
              <a:rPr lang="en-US" sz="850" i="1" dirty="0">
                <a:solidFill>
                  <a:srgbClr val="D4D4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Bitcoin: A Peer-to-Peer Electronic Cash System</a:t>
            </a:r>
            <a:r>
              <a:rPr lang="en-US" sz="850" dirty="0">
                <a:solidFill>
                  <a:srgbClr val="D4D4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(Foundational Blockchain Whitepaper).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71500" y="4421981"/>
            <a:ext cx="8001000" cy="435769"/>
          </a:xfrm>
          <a:prstGeom prst="rect">
            <a:avLst/>
          </a:prstGeom>
          <a:solidFill>
            <a:srgbClr val="2A2A4A">
              <a:alpha val="5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571500" y="4421981"/>
            <a:ext cx="8001000" cy="14288"/>
          </a:xfrm>
          <a:prstGeom prst="rect">
            <a:avLst/>
          </a:prstGeom>
          <a:solidFill>
            <a:srgbClr val="957DAD"/>
          </a:solidFill>
          <a:ln/>
        </p:spPr>
      </p:sp>
      <p:sp>
        <p:nvSpPr>
          <p:cNvPr id="19" name="Text 16"/>
          <p:cNvSpPr/>
          <p:nvPr/>
        </p:nvSpPr>
        <p:spPr>
          <a:xfrm>
            <a:off x="571500" y="4421981"/>
            <a:ext cx="8001000" cy="435769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57D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data and facts presented are sourced from peer-reviewed journals, industry reports, and foundational technical documentation.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2169</Words>
  <Application>Microsoft Office PowerPoint</Application>
  <PresentationFormat>On-screen Show (16:9)</PresentationFormat>
  <Paragraphs>292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Open Sans</vt:lpstr>
      <vt:lpstr>Open Sans Bold</vt:lpstr>
      <vt:lpstr>Orbitron Bold</vt:lpstr>
      <vt:lpstr>Roboto</vt:lpstr>
      <vt:lpstr>Roboto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OP</cp:lastModifiedBy>
  <cp:revision>7</cp:revision>
  <dcterms:created xsi:type="dcterms:W3CDTF">2026-05-15T13:28:25Z</dcterms:created>
  <dcterms:modified xsi:type="dcterms:W3CDTF">2026-05-19T18:33:22Z</dcterms:modified>
</cp:coreProperties>
</file>